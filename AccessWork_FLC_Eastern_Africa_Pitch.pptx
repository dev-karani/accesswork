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0"/>
            <a:ext cx="634136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417320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6484E"/>
                </a:solidFill>
                <a:latin typeface="Calibri"/>
              </a:rPr>
              <a:t>FUTURE LEADERS CHALLENGE  ·  EASTERN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6949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111111"/>
                </a:solidFill>
                <a:latin typeface="Calibri"/>
              </a:rPr>
              <a:t>ACCESSWORK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6217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Calibri"/>
              </a:rPr>
              <a:t>Front-desk communication for Deaf receptionists
and hearing guests.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6484E"/>
                </a:solidFill>
                <a:latin typeface="Calibri"/>
              </a:rPr>
              <a:t>October 26–27 2026, Nairobi</a:t>
            </a:r>
          </a:p>
        </p:txBody>
      </p:sp>
      <p:pic>
        <p:nvPicPr>
          <p:cNvPr id="7" name="Picture 6" descr="logo_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74920"/>
            <a:ext cx="3246120" cy="14565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to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34840"/>
            <a:ext cx="12191695" cy="2423160"/>
          </a:xfrm>
          <a:prstGeom prst="rect">
            <a:avLst/>
          </a:prstGeom>
        </p:spPr>
      </p:pic>
      <p:pic>
        <p:nvPicPr>
          <p:cNvPr id="3" name="Picture 2" descr="accent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051560" cy="82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02920"/>
            <a:ext cx="11155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Deaf children go to school.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Calibri"/>
              </a:rPr>
              <a:t>Have you ever wondered what their future looks like?
Is it limited by their disability?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10972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Calibri"/>
              </a:rPr>
              <a:t>If you were to hire a young Deaf person tomorrow,
what would your immediate thought be?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_hospital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0"/>
            <a:ext cx="4233672" cy="6858000"/>
          </a:xfrm>
          <a:prstGeom prst="rect">
            <a:avLst/>
          </a:prstGeom>
        </p:spPr>
      </p:pic>
      <p:pic>
        <p:nvPicPr>
          <p:cNvPr id="3" name="Picture 2" descr="accent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051560" cy="82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02336"/>
            <a:ext cx="7315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Calibri"/>
              </a:rPr>
              <a:t>Hospitality still cannot put them at the desk.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51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0A3A3"/>
                </a:solidFill>
                <a:latin typeface="Calibri"/>
              </a:rPr>
              <a:t>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32588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  <a:latin typeface="Calibri"/>
              </a:rPr>
              <a:t>Kenya’s disability employment quota.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6484E"/>
                </a:solidFill>
                <a:latin typeface="Calibri"/>
              </a:rPr>
              <a:t>Hotels are asked to employ persons with disabilities. A study of Nairobi 3–5 star hotels found none of them met the 5%.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051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0A3A3"/>
                </a:solidFill>
                <a:latin typeface="Calibri"/>
              </a:rPr>
              <a:t>600k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92608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  <a:latin typeface="Calibri"/>
              </a:rPr>
              <a:t>Deaf people live in Kenya.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6484E"/>
                </a:solidFill>
                <a:latin typeface="Calibri"/>
              </a:rPr>
              <a:t>The hardest step is not school. It is the first job — especially a job built around speech.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1051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0A3A3"/>
                </a:solidFill>
                <a:latin typeface="Calibri"/>
              </a:rPr>
              <a:t>1 desk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52628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  <a:latin typeface="Calibri"/>
              </a:rPr>
              <a:t>The front desk is still spoken.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6484E"/>
                </a:solidFill>
                <a:latin typeface="Calibri"/>
              </a:rPr>
              <a:t>Guests talk. Staff answer by talking. A trained Deaf receptionist is left outside the most visible role in the hotel.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46484E"/>
                </a:solidFill>
                <a:latin typeface="Calibri"/>
              </a:rPr>
              <a:t>Future Leaders Challenge </a:t>
            </a:r>
            <a:r>
              <a:rPr sz="1100" b="1">
                <a:solidFill>
                  <a:srgbClr val="87141C"/>
                </a:solidFill>
                <a:latin typeface="Calibri"/>
              </a:rPr>
              <a:t>Eastern</a:t>
            </a:r>
            <a:r>
              <a:rPr sz="1100" b="0">
                <a:solidFill>
                  <a:srgbClr val="46484E"/>
                </a:solidFill>
                <a:latin typeface="Calibri"/>
              </a:rPr>
              <a:t> </a:t>
            </a:r>
            <a:r>
              <a:rPr sz="1100" b="1">
                <a:solidFill>
                  <a:srgbClr val="1A8C52"/>
                </a:solidFill>
                <a:latin typeface="Calibri"/>
              </a:rPr>
              <a:t>Africa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vr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0"/>
            <a:ext cx="1764792" cy="5943600"/>
          </a:xfrm>
          <a:prstGeom prst="rect">
            <a:avLst/>
          </a:prstGeom>
        </p:spPr>
      </p:pic>
      <p:pic>
        <p:nvPicPr>
          <p:cNvPr id="3" name="Picture 2" descr="accent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051560" cy="82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0233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Calibri"/>
              </a:rPr>
              <a:t>That gap is a hiring door hospitality has not opened.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6484E"/>
                </a:solidFill>
                <a:latin typeface="Calibri"/>
              </a:rPr>
              <a:t>The quota is already law. Tourism is already hiring. Deaf young people already finish school. The missing piece is a desk they can actually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1546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Calibri"/>
              </a:rPr>
              <a:t>For hotels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2697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6484E"/>
                </a:solidFill>
                <a:latin typeface="Calibri"/>
              </a:rPr>
              <a:t>Meet the quota at the most public job in the building — without waiting for a hearing colleague to interpret every check-in.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2194560"/>
            <a:ext cx="31546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2377440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Calibri"/>
              </a:rPr>
              <a:t>For Deaf youth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108960"/>
            <a:ext cx="2697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6484E"/>
                </a:solidFill>
                <a:latin typeface="Calibri"/>
              </a:rPr>
              <a:t>A real first career in hospitality: skills, wages, and a role guests walk up to every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194560"/>
            <a:ext cx="31546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2377440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Calibri"/>
              </a:rPr>
              <a:t>For guests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108960"/>
            <a:ext cx="2697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6484E"/>
                </a:solidFill>
                <a:latin typeface="Calibri"/>
              </a:rPr>
              <a:t>They speak as they always do. They leave understood. The hotel looks inclusive because it 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46484E"/>
                </a:solidFill>
                <a:latin typeface="Calibri"/>
              </a:rPr>
              <a:t>Future Leaders Challenge </a:t>
            </a:r>
            <a:r>
              <a:rPr sz="1100" b="1">
                <a:solidFill>
                  <a:srgbClr val="87141C"/>
                </a:solidFill>
                <a:latin typeface="Calibri"/>
              </a:rPr>
              <a:t>Eastern</a:t>
            </a:r>
            <a:r>
              <a:rPr sz="1100" b="0">
                <a:solidFill>
                  <a:srgbClr val="46484E"/>
                </a:solidFill>
                <a:latin typeface="Calibri"/>
              </a:rPr>
              <a:t> </a:t>
            </a:r>
            <a:r>
              <a:rPr sz="1100" b="1">
                <a:solidFill>
                  <a:srgbClr val="1A8C52"/>
                </a:solidFill>
                <a:latin typeface="Calibri"/>
              </a:rPr>
              <a:t>Africa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cen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822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0233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Calibri"/>
              </a:rPr>
              <a:t>AccessWork is a two-sided screen at the desk.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6484E"/>
                </a:solidFill>
                <a:latin typeface="Calibri"/>
              </a:rPr>
              <a:t>The guest talks. The receptionist reads it. Then they answer.</a:t>
            </a:r>
          </a:p>
        </p:txBody>
      </p:sp>
      <p:pic>
        <p:nvPicPr>
          <p:cNvPr id="5" name="Picture 4" descr="card_des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81328"/>
            <a:ext cx="5532120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3931920"/>
            <a:ext cx="5532120" cy="475488"/>
          </a:xfrm>
          <a:prstGeom prst="rect">
            <a:avLst/>
          </a:prstGeom>
          <a:solidFill>
            <a:srgbClr val="0C0C10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950208"/>
            <a:ext cx="5349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Hearing guest  ·  speaks as usual</a:t>
            </a:r>
          </a:p>
        </p:txBody>
      </p:sp>
      <p:pic>
        <p:nvPicPr>
          <p:cNvPr id="8" name="Picture 7" descr="card_scree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81328"/>
            <a:ext cx="5532120" cy="2926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72200" y="3931920"/>
            <a:ext cx="5532120" cy="475488"/>
          </a:xfrm>
          <a:prstGeom prst="rect">
            <a:avLst/>
          </a:prstGeom>
          <a:solidFill>
            <a:srgbClr val="0C0C10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3950208"/>
            <a:ext cx="5349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Deaf receptionist  ·  reads, then signs or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645152"/>
            <a:ext cx="365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0A3A3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Guest speaks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02920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6484E"/>
                </a:solidFill>
                <a:latin typeface="Calibri"/>
              </a:rPr>
              <a:t>Speech becomes text on the employee screen. A 3D avatar signs the message.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457200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4645152"/>
            <a:ext cx="365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0A3A3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663440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Receptionist replies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502920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6484E"/>
                </a:solidFill>
                <a:latin typeface="Calibri"/>
              </a:rPr>
              <a:t>They sign to the camera, type, or tap a hospitality phrase.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57200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4645152"/>
            <a:ext cx="365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0A3A3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663440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Guest hears and reads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502920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6484E"/>
                </a:solidFill>
                <a:latin typeface="Calibri"/>
              </a:rPr>
              <a:t>The reply is text plus a voice note. The employee screen flashes when a guest starts talking.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cen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1051560" cy="822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0233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Calibri"/>
              </a:rPr>
              <a:t>One conversation. Two screens. A job that finally fits.</a:t>
            </a:r>
          </a:p>
        </p:txBody>
      </p:sp>
      <p:pic>
        <p:nvPicPr>
          <p:cNvPr id="4" name="Picture 3" descr="card_spea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80160"/>
            <a:ext cx="3657600" cy="2286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3611880"/>
            <a:ext cx="3657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37947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Calibri"/>
              </a:rPr>
              <a:t>Guest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297680"/>
            <a:ext cx="3246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6484E"/>
                </a:solidFill>
                <a:latin typeface="Calibri"/>
              </a:rPr>
              <a:t>Speak normally. See the reply. Hear a voice note you can play again.</a:t>
            </a:r>
          </a:p>
        </p:txBody>
      </p:sp>
      <p:pic>
        <p:nvPicPr>
          <p:cNvPr id="8" name="Picture 7" descr="card_sig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280160"/>
            <a:ext cx="3657600" cy="2286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3611880"/>
            <a:ext cx="3657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37947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Calibri"/>
              </a:rPr>
              <a:t>Employee 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4297680"/>
            <a:ext cx="3246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6484E"/>
                </a:solidFill>
                <a:latin typeface="Calibri"/>
              </a:rPr>
              <a:t>Read the guest’s words. Watch them signed. Answer in sign, type, or a quick phrase.</a:t>
            </a:r>
          </a:p>
        </p:txBody>
      </p:sp>
      <p:pic>
        <p:nvPicPr>
          <p:cNvPr id="12" name="Picture 11" descr="card_typ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280160"/>
            <a:ext cx="3657600" cy="2286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92440" y="3611880"/>
            <a:ext cx="3657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37947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Calibri"/>
              </a:rPr>
              <a:t>The hotel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4297680"/>
            <a:ext cx="3246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6484E"/>
                </a:solidFill>
                <a:latin typeface="Calibri"/>
              </a:rPr>
              <a:t>A Deaf receptionist on the front desk — the guest never has to wait for a helper.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28816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46484E"/>
                </a:solidFill>
                <a:latin typeface="Calibri"/>
              </a:rPr>
              <a:t>Future Leaders Challenge </a:t>
            </a:r>
            <a:r>
              <a:rPr sz="1100" b="1">
                <a:solidFill>
                  <a:srgbClr val="87141C"/>
                </a:solidFill>
                <a:latin typeface="Calibri"/>
              </a:rPr>
              <a:t>Eastern</a:t>
            </a:r>
            <a:r>
              <a:rPr sz="1100" b="0">
                <a:solidFill>
                  <a:srgbClr val="46484E"/>
                </a:solidFill>
                <a:latin typeface="Calibri"/>
              </a:rPr>
              <a:t> </a:t>
            </a:r>
            <a:r>
              <a:rPr sz="1100" b="1">
                <a:solidFill>
                  <a:srgbClr val="1A8C52"/>
                </a:solidFill>
                <a:latin typeface="Calibri"/>
              </a:rPr>
              <a:t>Africa</a:t>
            </a:r>
          </a:p>
        </p:txBody>
      </p:sp>
      <p:pic>
        <p:nvPicPr>
          <p:cNvPr id="17" name="Picture 16" descr="logo_platfo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6355080"/>
            <a:ext cx="82296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0"/>
            <a:ext cx="634136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691640"/>
            <a:ext cx="6949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Inclusive pathways start at the front desk.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Calibri"/>
              </a:rPr>
              <a:t>A Deaf receptionist. A hearing guest.
A conversation that does not need a third person.</a:t>
            </a:r>
          </a:p>
        </p:txBody>
      </p:sp>
      <p:pic>
        <p:nvPicPr>
          <p:cNvPr id="5" name="Picture 4" descr="logo_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74920"/>
            <a:ext cx="3154680" cy="1415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