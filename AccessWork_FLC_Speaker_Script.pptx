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Warmup only. Do not show this slide to judges.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 are AccessWork.</a:t>
            </a:r>
          </a:p>
          <a:p/>
          <a:p>
            <a:r>
              <a:t>A front desk that a Deaf receptionist can actually work.</a:t>
            </a:r>
          </a:p>
          <a:p/>
          <a:p>
            <a:r>
              <a:t>[click]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Deaf children go to school. They learn. They sit exams. They finish. Same as anyone’s cousin, anyone’s friend.</a:t>
            </a:r>
          </a:p>
          <a:p/>
          <a:p>
            <a:r>
              <a:t>Have you ever wondered what their future looks like after that?</a:t>
            </a:r>
          </a:p>
          <a:p/>
          <a:p>
            <a:r>
              <a:t>[pause 2]</a:t>
            </a:r>
          </a:p>
          <a:p/>
          <a:p>
            <a:r>
              <a:t>Is it limited by their disability — or by the jobs we designed only for people who can hear?</a:t>
            </a:r>
          </a:p>
          <a:p/>
          <a:p>
            <a:r>
              <a:t>If you hired a young Deaf person tomorrow — be honest — what would your immediate thought be?</a:t>
            </a:r>
          </a:p>
          <a:p/>
          <a:p>
            <a:r>
              <a:t>[pause 3]</a:t>
            </a:r>
          </a:p>
          <a:p/>
          <a:p>
            <a:r>
              <a:t>For a lot of managers, the thought is: how will they talk to a guest?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thought is why hospitality still cannot put them at the desk.</a:t>
            </a:r>
          </a:p>
          <a:p/>
          <a:p>
            <a:r>
              <a:t>Kenya already asks hotels for a 5% disability employment quota. A study of Nairobi 3-to-5-star hotels found none of them met it. Not one.</a:t>
            </a:r>
          </a:p>
          <a:p/>
          <a:p>
            <a:r>
              <a:t>About 600,000 Deaf people live in this country. The hardest step is not school. It is the first job — especially a job built around speech.</a:t>
            </a:r>
          </a:p>
          <a:p/>
          <a:p>
            <a:r>
              <a:t>The front desk is still a spoken job. Guests talk. Staff answer by talking. So a trained Deaf receptionist is standing outside the most visible role in the hotel, waiting for a hearing colleague to interpret “breakfast is until 10.”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gap is not only a failure. It is a hiring door hospitality has not opened.</a:t>
            </a:r>
          </a:p>
          <a:p/>
          <a:p>
            <a:r>
              <a:t>The quota is already law. Tourism is already hiring. Deaf young people already finish school. The missing piece is a desk they can actually work.</a:t>
            </a:r>
          </a:p>
          <a:p/>
          <a:p>
            <a:r>
              <a:t>For hotels: meet the quota at the most public job in the building — without waiting for a colleague to interpret every check-in.</a:t>
            </a:r>
          </a:p>
          <a:p/>
          <a:p>
            <a:r>
              <a:t>For Deaf youth: a real first career. Wages. Skills. A role guests walk up to every day.</a:t>
            </a:r>
          </a:p>
          <a:p/>
          <a:p>
            <a:r>
              <a:t>For guests: they speak as they always do. They leave understood. The hotel looks inclusive because it 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built AccessWork. A two-sided screen at the desk.</a:t>
            </a:r>
          </a:p>
          <a:p/>
          <a:p>
            <a:r>
              <a:t>The guest talks. The receptionist reads it. Then they answer.</a:t>
            </a:r>
          </a:p>
          <a:p/>
          <a:p>
            <a:r>
              <a:t>One. The guest speaks. Speech becomes text on the employee screen. A 3D avatar signs the message, so the receptionist follows with their eyes.</a:t>
            </a:r>
          </a:p>
          <a:p/>
          <a:p>
            <a:r>
              <a:t>Two. The receptionist replies. They sign to the camera. Or they type. Or they tap a hospitality phrase they already use.</a:t>
            </a:r>
          </a:p>
          <a:p/>
          <a:p>
            <a:r>
              <a:t>Three. The guest hears and reads. Text, plus a voice note they can play again. And when a guest starts talking, the employee screen flashes — so nobody waits in silence.</a:t>
            </a:r>
          </a:p>
          <a:p/>
          <a:p>
            <a:r>
              <a:t>Let me show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conversation. Two screens. A job that finally fits.</a:t>
            </a:r>
          </a:p>
          <a:p/>
          <a:p>
            <a:r>
              <a:t>Guest side: speak normally. See the reply. Hear a voice note you can play again.</a:t>
            </a:r>
          </a:p>
          <a:p/>
          <a:p>
            <a:r>
              <a:t>Employee side: read the guest’s words. Watch them signed. Answer in sign, type, or a quick phrase.</a:t>
            </a:r>
          </a:p>
          <a:p/>
          <a:p>
            <a:r>
              <a:t>The hotel: a Deaf receptionist on the front desk. The guest never has to wait for a helper.</a:t>
            </a:r>
          </a:p>
          <a:p/>
          <a:p>
            <a:r>
              <a:t>This is what inclusive pathways look like when they are not a training certificate that never gets used.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Inclusive pathways start at the front desk.</a:t>
            </a:r>
          </a:p>
          <a:p/>
          <a:p>
            <a:r>
              <a:t>A Deaf receptionist. A hearing guest. A conversation that does not need a third person.</a:t>
            </a:r>
          </a:p>
          <a:p/>
          <a:p>
            <a:r>
              <a:t>Thank you.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this page. One person watches the clock. One person speaks.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then bridge back to: a Deaf receptionist, a hearing guest, no third person.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3F6"/>
        </a:solidFill>
        <a:effectLst/>
      </p:bgPr>
    </p:bg>
    <p:spTree>
      <p:nvGrpSpPr>
        <p:cNvPr id="1" name=""/>
        <p:cNvGrpSpPr/>
        <p:nvPr/>
      </p:nvGrpSpPr>
      <p:grpSpPr/>
      <p:pic>
        <p:nvPicPr>
          <p:cNvPr id="2" name="Picture 1" descr="s2_4.png"/>
          <p:cNvPicPr>
            <a:picLocks noChangeAspect="1"/>
          </p:cNvPicPr>
          <p:nvPr/>
        </p:nvPicPr>
        <p:blipFill>
          <a:blip r:embed="rId2"/>
          <a:stretch>
            <a:fillRect/>
          </a:stretch>
        </p:blipFill>
        <p:spPr>
          <a:xfrm>
            <a:off x="411480" y="256032"/>
            <a:ext cx="1005840" cy="82296"/>
          </a:xfrm>
          <a:prstGeom prst="rect">
            <a:avLst/>
          </a:prstGeom>
        </p:spPr>
      </p:pic>
      <p:sp>
        <p:nvSpPr>
          <p:cNvPr id="3" name="TextBox 2"/>
          <p:cNvSpPr txBox="1"/>
          <p:nvPr/>
        </p:nvSpPr>
        <p:spPr>
          <a:xfrm>
            <a:off x="411480" y="384048"/>
            <a:ext cx="11155680" cy="457200"/>
          </a:xfrm>
          <a:prstGeom prst="rect">
            <a:avLst/>
          </a:prstGeom>
          <a:noFill/>
        </p:spPr>
        <p:txBody>
          <a:bodyPr wrap="square">
            <a:spAutoFit/>
          </a:bodyPr>
          <a:lstStyle/>
          <a:p>
            <a:pPr algn="l"/>
            <a:r>
              <a:rPr sz="2800" b="1" i="0">
                <a:solidFill>
                  <a:srgbClr val="111111"/>
                </a:solidFill>
                <a:latin typeface="Calibri"/>
              </a:rPr>
              <a:t>How to use this deck</a:t>
            </a:r>
          </a:p>
        </p:txBody>
      </p:sp>
      <p:sp>
        <p:nvSpPr>
          <p:cNvPr id="4" name="TextBox 3"/>
          <p:cNvSpPr txBox="1"/>
          <p:nvPr/>
        </p:nvSpPr>
        <p:spPr>
          <a:xfrm>
            <a:off x="411480" y="868680"/>
            <a:ext cx="11155680" cy="320040"/>
          </a:xfrm>
          <a:prstGeom prst="rect">
            <a:avLst/>
          </a:prstGeom>
          <a:noFill/>
        </p:spPr>
        <p:txBody>
          <a:bodyPr wrap="square">
            <a:spAutoFit/>
          </a:bodyPr>
          <a:lstStyle/>
          <a:p>
            <a:pPr algn="l"/>
            <a:r>
              <a:rPr sz="1600" b="0" i="0">
                <a:solidFill>
                  <a:srgbClr val="46484E"/>
                </a:solidFill>
                <a:latin typeface="Calibri"/>
              </a:rPr>
              <a:t>Private rehearsal file. The judges see the short deck. You speak this.</a:t>
            </a:r>
          </a:p>
        </p:txBody>
      </p:sp>
      <p:sp>
        <p:nvSpPr>
          <p:cNvPr id="5" name="TextBox 4"/>
          <p:cNvSpPr txBox="1"/>
          <p:nvPr/>
        </p:nvSpPr>
        <p:spPr>
          <a:xfrm>
            <a:off x="457200" y="1280160"/>
            <a:ext cx="11155680" cy="256032"/>
          </a:xfrm>
          <a:prstGeom prst="rect">
            <a:avLst/>
          </a:prstGeom>
          <a:noFill/>
        </p:spPr>
        <p:txBody>
          <a:bodyPr wrap="square">
            <a:spAutoFit/>
          </a:bodyPr>
          <a:lstStyle/>
          <a:p>
            <a:pPr algn="l"/>
            <a:r>
              <a:rPr sz="1600" b="1" i="0">
                <a:solidFill>
                  <a:srgbClr val="40A3A3"/>
                </a:solidFill>
                <a:latin typeface="Calibri"/>
              </a:rPr>
              <a:t>Judges see leading lines.</a:t>
            </a:r>
          </a:p>
        </p:txBody>
      </p:sp>
      <p:sp>
        <p:nvSpPr>
          <p:cNvPr id="6" name="TextBox 5"/>
          <p:cNvSpPr txBox="1"/>
          <p:nvPr/>
        </p:nvSpPr>
        <p:spPr>
          <a:xfrm>
            <a:off x="457200" y="1536192"/>
            <a:ext cx="11155680" cy="457200"/>
          </a:xfrm>
          <a:prstGeom prst="rect">
            <a:avLst/>
          </a:prstGeom>
          <a:noFill/>
        </p:spPr>
        <p:txBody>
          <a:bodyPr wrap="square">
            <a:spAutoFit/>
          </a:bodyPr>
          <a:lstStyle/>
          <a:p>
            <a:pPr algn="l"/>
            <a:r>
              <a:rPr sz="1500" b="0" i="0">
                <a:solidFill>
                  <a:srgbClr val="111111"/>
                </a:solidFill>
                <a:latin typeface="Calibri"/>
              </a:rPr>
              <a:t>You never read their slides word for word. You pick up the line, then tell. This file is the tell. Teal lines are what you say. Grey lines are direction. Gold boxes are Roger Love.</a:t>
            </a:r>
          </a:p>
        </p:txBody>
      </p:sp>
      <p:sp>
        <p:nvSpPr>
          <p:cNvPr id="7" name="TextBox 6"/>
          <p:cNvSpPr txBox="1"/>
          <p:nvPr/>
        </p:nvSpPr>
        <p:spPr>
          <a:xfrm>
            <a:off x="457200" y="2029968"/>
            <a:ext cx="11155680" cy="256032"/>
          </a:xfrm>
          <a:prstGeom prst="rect">
            <a:avLst/>
          </a:prstGeom>
          <a:noFill/>
        </p:spPr>
        <p:txBody>
          <a:bodyPr wrap="square">
            <a:spAutoFit/>
          </a:bodyPr>
          <a:lstStyle/>
          <a:p>
            <a:pPr algn="l"/>
            <a:r>
              <a:rPr sz="1600" b="1" i="0">
                <a:solidFill>
                  <a:srgbClr val="40A3A3"/>
                </a:solidFill>
                <a:latin typeface="Calibri"/>
              </a:rPr>
              <a:t>Seven minutes is about 950 words.</a:t>
            </a:r>
          </a:p>
        </p:txBody>
      </p:sp>
      <p:sp>
        <p:nvSpPr>
          <p:cNvPr id="8" name="TextBox 7"/>
          <p:cNvSpPr txBox="1"/>
          <p:nvPr/>
        </p:nvSpPr>
        <p:spPr>
          <a:xfrm>
            <a:off x="457200" y="2286000"/>
            <a:ext cx="11155680" cy="457200"/>
          </a:xfrm>
          <a:prstGeom prst="rect">
            <a:avLst/>
          </a:prstGeom>
          <a:noFill/>
        </p:spPr>
        <p:txBody>
          <a:bodyPr wrap="square">
            <a:spAutoFit/>
          </a:bodyPr>
          <a:lstStyle/>
          <a:p>
            <a:pPr algn="l"/>
            <a:r>
              <a:rPr sz="1500" b="0" i="0">
                <a:solidFill>
                  <a:srgbClr val="111111"/>
                </a:solidFill>
                <a:latin typeface="Calibri"/>
              </a:rPr>
              <a:t>If you only read the public deck you finish in three. This script is paced to land at 6:45, then hold.</a:t>
            </a:r>
          </a:p>
        </p:txBody>
      </p:sp>
      <p:sp>
        <p:nvSpPr>
          <p:cNvPr id="9" name="TextBox 8"/>
          <p:cNvSpPr txBox="1"/>
          <p:nvPr/>
        </p:nvSpPr>
        <p:spPr>
          <a:xfrm>
            <a:off x="457200" y="2779776"/>
            <a:ext cx="11155680" cy="256032"/>
          </a:xfrm>
          <a:prstGeom prst="rect">
            <a:avLst/>
          </a:prstGeom>
          <a:noFill/>
        </p:spPr>
        <p:txBody>
          <a:bodyPr wrap="square">
            <a:spAutoFit/>
          </a:bodyPr>
          <a:lstStyle/>
          <a:p>
            <a:pPr algn="l"/>
            <a:r>
              <a:rPr sz="1600" b="1" i="0">
                <a:solidFill>
                  <a:srgbClr val="40A3A3"/>
                </a:solidFill>
                <a:latin typeface="Calibri"/>
              </a:rPr>
              <a:t>Roger Love’s job here:</a:t>
            </a:r>
          </a:p>
        </p:txBody>
      </p:sp>
      <p:sp>
        <p:nvSpPr>
          <p:cNvPr id="10" name="TextBox 9"/>
          <p:cNvSpPr txBox="1"/>
          <p:nvPr/>
        </p:nvSpPr>
        <p:spPr>
          <a:xfrm>
            <a:off x="457200" y="3035808"/>
            <a:ext cx="11155680" cy="457200"/>
          </a:xfrm>
          <a:prstGeom prst="rect">
            <a:avLst/>
          </a:prstGeom>
          <a:noFill/>
        </p:spPr>
        <p:txBody>
          <a:bodyPr wrap="square">
            <a:spAutoFit/>
          </a:bodyPr>
          <a:lstStyle/>
          <a:p>
            <a:pPr algn="l"/>
            <a:r>
              <a:rPr sz="1500" b="0" i="0">
                <a:solidFill>
                  <a:srgbClr val="111111"/>
                </a:solidFill>
                <a:latin typeface="Calibri"/>
              </a:rPr>
              <a:t>Melody, not monotone. Volume is emotion. A pause is a sentence. Speak 10% louder than conversation. Do not trail off.</a:t>
            </a:r>
          </a:p>
        </p:txBody>
      </p:sp>
      <p:sp>
        <p:nvSpPr>
          <p:cNvPr id="11" name="TextBox 10"/>
          <p:cNvSpPr txBox="1"/>
          <p:nvPr/>
        </p:nvSpPr>
        <p:spPr>
          <a:xfrm>
            <a:off x="457200" y="3529584"/>
            <a:ext cx="11155680" cy="256032"/>
          </a:xfrm>
          <a:prstGeom prst="rect">
            <a:avLst/>
          </a:prstGeom>
          <a:noFill/>
        </p:spPr>
        <p:txBody>
          <a:bodyPr wrap="square">
            <a:spAutoFit/>
          </a:bodyPr>
          <a:lstStyle/>
          <a:p>
            <a:pPr algn="l"/>
            <a:r>
              <a:rPr sz="1600" b="1" i="0">
                <a:solidFill>
                  <a:srgbClr val="40A3A3"/>
                </a:solidFill>
                <a:latin typeface="Calibri"/>
              </a:rPr>
              <a:t>Energy map:</a:t>
            </a:r>
          </a:p>
        </p:txBody>
      </p:sp>
      <p:sp>
        <p:nvSpPr>
          <p:cNvPr id="12" name="TextBox 11"/>
          <p:cNvSpPr txBox="1"/>
          <p:nvPr/>
        </p:nvSpPr>
        <p:spPr>
          <a:xfrm>
            <a:off x="457200" y="3785616"/>
            <a:ext cx="11155680" cy="457200"/>
          </a:xfrm>
          <a:prstGeom prst="rect">
            <a:avLst/>
          </a:prstGeom>
          <a:noFill/>
        </p:spPr>
        <p:txBody>
          <a:bodyPr wrap="square">
            <a:spAutoFit/>
          </a:bodyPr>
          <a:lstStyle/>
          <a:p>
            <a:pPr algn="l"/>
            <a:r>
              <a:rPr sz="1500" b="0" i="0">
                <a:solidFill>
                  <a:srgbClr val="111111"/>
                </a:solidFill>
                <a:latin typeface="Calibri"/>
              </a:rPr>
              <a:t>Walk-on 6 → questions 4 (quiet, personal) → facts 7 → opportunity 8 → how-it-works 7 (clear) → close 5 then 9 on the last line.</a:t>
            </a:r>
          </a:p>
        </p:txBody>
      </p:sp>
      <p:sp>
        <p:nvSpPr>
          <p:cNvPr id="13" name="TextBox 12"/>
          <p:cNvSpPr txBox="1"/>
          <p:nvPr/>
        </p:nvSpPr>
        <p:spPr>
          <a:xfrm>
            <a:off x="457200" y="4279392"/>
            <a:ext cx="11155680" cy="256032"/>
          </a:xfrm>
          <a:prstGeom prst="rect">
            <a:avLst/>
          </a:prstGeom>
          <a:noFill/>
        </p:spPr>
        <p:txBody>
          <a:bodyPr wrap="square">
            <a:spAutoFit/>
          </a:bodyPr>
          <a:lstStyle/>
          <a:p>
            <a:pPr algn="l"/>
            <a:r>
              <a:rPr sz="1600" b="1" i="0">
                <a:solidFill>
                  <a:srgbClr val="40A3A3"/>
                </a:solidFill>
                <a:latin typeface="Calibri"/>
              </a:rPr>
              <a:t>What you will not say:</a:t>
            </a:r>
          </a:p>
        </p:txBody>
      </p:sp>
      <p:sp>
        <p:nvSpPr>
          <p:cNvPr id="14" name="TextBox 13"/>
          <p:cNvSpPr txBox="1"/>
          <p:nvPr/>
        </p:nvSpPr>
        <p:spPr>
          <a:xfrm>
            <a:off x="457200" y="4535424"/>
            <a:ext cx="11155680" cy="457200"/>
          </a:xfrm>
          <a:prstGeom prst="rect">
            <a:avLst/>
          </a:prstGeom>
          <a:noFill/>
        </p:spPr>
        <p:txBody>
          <a:bodyPr wrap="square">
            <a:spAutoFit/>
          </a:bodyPr>
          <a:lstStyle/>
          <a:p>
            <a:pPr algn="l"/>
            <a:r>
              <a:rPr sz="1500" b="0" i="0">
                <a:solidFill>
                  <a:srgbClr val="111111"/>
                </a:solidFill>
                <a:latin typeface="Calibri"/>
              </a:rPr>
              <a:t>No ask. No “not built yet”. No translation-engine caveats. No apology for the demo.</a:t>
            </a:r>
          </a:p>
        </p:txBody>
      </p:sp>
      <p:sp>
        <p:nvSpPr>
          <p:cNvPr id="15" name="Rounded Rectangle 14"/>
          <p:cNvSpPr/>
          <p:nvPr/>
        </p:nvSpPr>
        <p:spPr>
          <a:xfrm>
            <a:off x="411480" y="5074920"/>
            <a:ext cx="11338560" cy="1371600"/>
          </a:xfrm>
          <a:prstGeom prst="roundRect">
            <a:avLst>
              <a:gd name="adj" fmla="val 6000"/>
            </a:avLst>
          </a:prstGeom>
          <a:solidFill>
            <a:srgbClr val="FFF8E6"/>
          </a:solidFill>
          <a:ln>
            <a:solidFill>
              <a:srgbClr val="E8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 y="5166360"/>
            <a:ext cx="11064240" cy="292608"/>
          </a:xfrm>
          <a:prstGeom prst="rect">
            <a:avLst/>
          </a:prstGeom>
          <a:noFill/>
        </p:spPr>
        <p:txBody>
          <a:bodyPr wrap="square">
            <a:spAutoFit/>
          </a:bodyPr>
          <a:lstStyle/>
          <a:p>
            <a:pPr algn="l"/>
            <a:r>
              <a:rPr sz="1200" b="1" i="0">
                <a:solidFill>
                  <a:srgbClr val="6B4706"/>
                </a:solidFill>
                <a:latin typeface="Calibri"/>
              </a:rPr>
              <a:t>ROGER LOVE — voice notes</a:t>
            </a:r>
          </a:p>
        </p:txBody>
      </p:sp>
      <p:sp>
        <p:nvSpPr>
          <p:cNvPr id="17" name="TextBox 16"/>
          <p:cNvSpPr txBox="1"/>
          <p:nvPr/>
        </p:nvSpPr>
        <p:spPr>
          <a:xfrm>
            <a:off x="576072" y="5458968"/>
            <a:ext cx="11009376" cy="868680"/>
          </a:xfrm>
          <a:prstGeom prst="rect">
            <a:avLst/>
          </a:prstGeom>
          <a:noFill/>
        </p:spPr>
        <p:txBody>
          <a:bodyPr wrap="square">
            <a:spAutoFit/>
          </a:bodyPr>
          <a:lstStyle/>
          <a:p>
            <a:pPr>
              <a:spcAft>
                <a:spcPts val="600"/>
              </a:spcAft>
            </a:pPr>
            <a:r>
              <a:rPr sz="1200">
                <a:solidFill>
                  <a:srgbClr val="463214"/>
                </a:solidFill>
                <a:latin typeface="Calibri"/>
              </a:rPr>
              <a:t>Warm up before you walk in: lip trill 20 seconds, hum a five-note scale, then say “AccessWork” three times, each time ending higher than you started.</a:t>
            </a:r>
          </a:p>
          <a:p>
            <a:pPr>
              <a:spcAft>
                <a:spcPts val="600"/>
              </a:spcAft>
            </a:pPr>
            <a:r>
              <a:rPr sz="1200">
                <a:solidFill>
                  <a:srgbClr val="463214"/>
                </a:solidFill>
                <a:latin typeface="Calibri"/>
              </a:rPr>
              <a:t>If your throat is tight, you are in your neck. Drop the shoulders. Breath in through the nose for 4, out for 6. Then start.</a:t>
            </a:r>
          </a:p>
        </p:txBody>
      </p:sp>
      <p:sp>
        <p:nvSpPr>
          <p:cNvPr id="18" name="TextBox 17"/>
          <p:cNvSpPr txBox="1"/>
          <p:nvPr/>
        </p:nvSpPr>
        <p:spPr>
          <a:xfrm>
            <a:off x="411480" y="6565392"/>
            <a:ext cx="7772400" cy="219456"/>
          </a:xfrm>
          <a:prstGeom prst="rect">
            <a:avLst/>
          </a:prstGeom>
          <a:noFill/>
        </p:spPr>
        <p:txBody>
          <a:bodyPr wrap="square">
            <a:spAutoFit/>
          </a:bodyPr>
          <a:lstStyle/>
          <a:p>
            <a:pPr algn="l"/>
            <a:r>
              <a:rPr sz="1100" b="0" i="0">
                <a:solidFill>
                  <a:srgbClr val="46484E"/>
                </a:solidFill>
                <a:latin typeface="Calibri"/>
              </a:rPr>
              <a:t>SPEAKER SCRIPT  ·  not for judges  ·  before the clock</a:t>
            </a:r>
          </a:p>
        </p:txBody>
      </p:sp>
      <p:sp>
        <p:nvSpPr>
          <p:cNvPr id="19" name="TextBox 18"/>
          <p:cNvSpPr txBox="1"/>
          <p:nvPr/>
        </p:nvSpPr>
        <p:spPr>
          <a:xfrm>
            <a:off x="10607040" y="6565392"/>
            <a:ext cx="1188720" cy="219456"/>
          </a:xfrm>
          <a:prstGeom prst="rect">
            <a:avLst/>
          </a:prstGeom>
          <a:noFill/>
        </p:spPr>
        <p:txBody>
          <a:bodyPr wrap="square">
            <a:spAutoFit/>
          </a:bodyPr>
          <a:lstStyle/>
          <a:p>
            <a:pPr algn="r"/>
            <a:r>
              <a:rPr sz="1100" b="0" i="0">
                <a:solidFill>
                  <a:srgbClr val="46484E"/>
                </a:solidFill>
                <a:latin typeface="Calibri"/>
              </a:rPr>
              <a:t>0 / warmup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3F6"/>
        </a:solidFill>
        <a:effectLst/>
      </p:bgPr>
    </p:bg>
    <p:spTree>
      <p:nvGrpSpPr>
        <p:cNvPr id="1" name=""/>
        <p:cNvGrpSpPr/>
        <p:nvPr/>
      </p:nvGrpSpPr>
      <p:grpSpPr/>
      <p:pic>
        <p:nvPicPr>
          <p:cNvPr id="2" name="Picture 1" descr="s1_1.png"/>
          <p:cNvPicPr>
            <a:picLocks noChangeAspect="1"/>
          </p:cNvPicPr>
          <p:nvPr/>
        </p:nvPicPr>
        <p:blipFill>
          <a:blip r:embed="rId2"/>
          <a:stretch>
            <a:fillRect/>
          </a:stretch>
        </p:blipFill>
        <p:spPr>
          <a:xfrm>
            <a:off x="7680960" y="0"/>
            <a:ext cx="6341364" cy="6858000"/>
          </a:xfrm>
          <a:prstGeom prst="rect">
            <a:avLst/>
          </a:prstGeom>
        </p:spPr>
      </p:pic>
      <p:pic>
        <p:nvPicPr>
          <p:cNvPr id="3" name="Picture 2" descr="s2_4.png"/>
          <p:cNvPicPr>
            <a:picLocks noChangeAspect="1"/>
          </p:cNvPicPr>
          <p:nvPr/>
        </p:nvPicPr>
        <p:blipFill>
          <a:blip r:embed="rId3"/>
          <a:stretch>
            <a:fillRect/>
          </a:stretch>
        </p:blipFill>
        <p:spPr>
          <a:xfrm>
            <a:off x="411480" y="256032"/>
            <a:ext cx="1005840" cy="82296"/>
          </a:xfrm>
          <a:prstGeom prst="rect">
            <a:avLst/>
          </a:prstGeom>
        </p:spPr>
      </p:pic>
      <p:sp>
        <p:nvSpPr>
          <p:cNvPr id="4" name="TextBox 3"/>
          <p:cNvSpPr txBox="1"/>
          <p:nvPr/>
        </p:nvSpPr>
        <p:spPr>
          <a:xfrm>
            <a:off x="411480" y="384048"/>
            <a:ext cx="7315200" cy="365760"/>
          </a:xfrm>
          <a:prstGeom prst="rect">
            <a:avLst/>
          </a:prstGeom>
          <a:noFill/>
        </p:spPr>
        <p:txBody>
          <a:bodyPr wrap="square">
            <a:spAutoFit/>
          </a:bodyPr>
          <a:lstStyle/>
          <a:p>
            <a:pPr algn="l"/>
            <a:r>
              <a:rPr sz="1400" b="1" i="0">
                <a:solidFill>
                  <a:srgbClr val="40A3A3"/>
                </a:solidFill>
                <a:latin typeface="Calibri"/>
              </a:rPr>
              <a:t>COVER  ·  0:00–0:20</a:t>
            </a:r>
          </a:p>
        </p:txBody>
      </p:sp>
      <p:sp>
        <p:nvSpPr>
          <p:cNvPr id="5" name="TextBox 4"/>
          <p:cNvSpPr txBox="1"/>
          <p:nvPr/>
        </p:nvSpPr>
        <p:spPr>
          <a:xfrm>
            <a:off x="411480" y="713232"/>
            <a:ext cx="7315200" cy="640080"/>
          </a:xfrm>
          <a:prstGeom prst="rect">
            <a:avLst/>
          </a:prstGeom>
          <a:noFill/>
        </p:spPr>
        <p:txBody>
          <a:bodyPr wrap="square">
            <a:spAutoFit/>
          </a:bodyPr>
          <a:lstStyle/>
          <a:p>
            <a:pPr algn="l"/>
            <a:r>
              <a:rPr sz="2800" b="1" i="0">
                <a:solidFill>
                  <a:srgbClr val="111111"/>
                </a:solidFill>
                <a:latin typeface="Calibri"/>
              </a:rPr>
              <a:t>Do not read the cover.</a:t>
            </a:r>
          </a:p>
        </p:txBody>
      </p:sp>
      <p:sp>
        <p:nvSpPr>
          <p:cNvPr id="6" name="Rounded Rectangle 5"/>
          <p:cNvSpPr/>
          <p:nvPr/>
        </p:nvSpPr>
        <p:spPr>
          <a:xfrm>
            <a:off x="411480" y="1417320"/>
            <a:ext cx="7040880" cy="3200400"/>
          </a:xfrm>
          <a:prstGeom prst="roundRect">
            <a:avLst>
              <a:gd name="adj" fmla="val 4000"/>
            </a:avLst>
          </a:prstGeom>
          <a:solidFill>
            <a:srgbClr val="FFFFFF"/>
          </a:solidFill>
          <a:ln>
            <a:solidFill>
              <a:srgbClr val="DC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54480"/>
            <a:ext cx="6675120" cy="2926080"/>
          </a:xfrm>
          <a:prstGeom prst="rect">
            <a:avLst/>
          </a:prstGeom>
          <a:noFill/>
        </p:spPr>
        <p:txBody>
          <a:bodyPr wrap="square">
            <a:spAutoFit/>
          </a:bodyPr>
          <a:lstStyle/>
          <a:p>
            <a:pPr>
              <a:spcAft>
                <a:spcPts val="1000"/>
              </a:spcAft>
            </a:pPr>
            <a:r>
              <a:rPr sz="1600" b="0" i="1">
                <a:solidFill>
                  <a:srgbClr val="46484E"/>
                </a:solidFill>
                <a:latin typeface="Calibri"/>
              </a:rPr>
              <a:t>Walk to centre. Plant both feet. Smile before you speak — a smile changes the sound of the voice.</a:t>
            </a:r>
          </a:p>
          <a:p>
            <a:pPr>
              <a:spcAft>
                <a:spcPts val="1000"/>
              </a:spcAft>
            </a:pPr>
            <a:r>
              <a:rPr sz="1600" b="1" i="0">
                <a:solidFill>
                  <a:srgbClr val="40A3A3"/>
                </a:solidFill>
                <a:latin typeface="Calibri"/>
              </a:rPr>
              <a:t>Good afternoon. We are AccessWork.</a:t>
            </a:r>
          </a:p>
          <a:p>
            <a:pPr>
              <a:spcAft>
                <a:spcPts val="1000"/>
              </a:spcAft>
            </a:pPr>
            <a:r>
              <a:rPr sz="1600" b="0" i="1">
                <a:solidFill>
                  <a:srgbClr val="46484E"/>
                </a:solidFill>
                <a:latin typeface="Calibri"/>
              </a:rPr>
              <a:t>One-beat pause. Then, slower:</a:t>
            </a:r>
          </a:p>
          <a:p>
            <a:pPr>
              <a:spcAft>
                <a:spcPts val="1000"/>
              </a:spcAft>
            </a:pPr>
            <a:r>
              <a:rPr sz="1600" b="1" i="0">
                <a:solidFill>
                  <a:srgbClr val="40A3A3"/>
                </a:solidFill>
                <a:latin typeface="Calibri"/>
              </a:rPr>
              <a:t>A front desk that a Deaf receptionist can actually work.</a:t>
            </a:r>
          </a:p>
          <a:p>
            <a:pPr>
              <a:spcAft>
                <a:spcPts val="1000"/>
              </a:spcAft>
            </a:pPr>
            <a:r>
              <a:rPr sz="1600" b="0" i="1">
                <a:solidFill>
                  <a:srgbClr val="46484E"/>
                </a:solidFill>
                <a:latin typeface="Calibri"/>
              </a:rPr>
              <a:t>Stop. Let the title sit. Click to the question slide. Do not explain the logo.</a:t>
            </a:r>
          </a:p>
        </p:txBody>
      </p:sp>
      <p:sp>
        <p:nvSpPr>
          <p:cNvPr id="8" name="Rounded Rectangle 7"/>
          <p:cNvSpPr/>
          <p:nvPr/>
        </p:nvSpPr>
        <p:spPr>
          <a:xfrm>
            <a:off x="411480" y="4754880"/>
            <a:ext cx="7040880" cy="1691640"/>
          </a:xfrm>
          <a:prstGeom prst="roundRect">
            <a:avLst>
              <a:gd name="adj" fmla="val 6000"/>
            </a:avLst>
          </a:prstGeom>
          <a:solidFill>
            <a:srgbClr val="FFF8E6"/>
          </a:solidFill>
          <a:ln>
            <a:solidFill>
              <a:srgbClr val="E8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4846320"/>
            <a:ext cx="6766560" cy="292608"/>
          </a:xfrm>
          <a:prstGeom prst="rect">
            <a:avLst/>
          </a:prstGeom>
          <a:noFill/>
        </p:spPr>
        <p:txBody>
          <a:bodyPr wrap="square">
            <a:spAutoFit/>
          </a:bodyPr>
          <a:lstStyle/>
          <a:p>
            <a:pPr algn="l"/>
            <a:r>
              <a:rPr sz="1200" b="1" i="0">
                <a:solidFill>
                  <a:srgbClr val="6B4706"/>
                </a:solidFill>
                <a:latin typeface="Calibri"/>
              </a:rPr>
              <a:t>ROGER LOVE — voice notes</a:t>
            </a:r>
          </a:p>
        </p:txBody>
      </p:sp>
      <p:sp>
        <p:nvSpPr>
          <p:cNvPr id="10" name="TextBox 9"/>
          <p:cNvSpPr txBox="1"/>
          <p:nvPr/>
        </p:nvSpPr>
        <p:spPr>
          <a:xfrm>
            <a:off x="576072" y="5138928"/>
            <a:ext cx="6711696" cy="1188720"/>
          </a:xfrm>
          <a:prstGeom prst="rect">
            <a:avLst/>
          </a:prstGeom>
          <a:noFill/>
        </p:spPr>
        <p:txBody>
          <a:bodyPr wrap="square">
            <a:spAutoFit/>
          </a:bodyPr>
          <a:lstStyle/>
          <a:p>
            <a:pPr>
              <a:spcAft>
                <a:spcPts val="600"/>
              </a:spcAft>
            </a:pPr>
            <a:r>
              <a:rPr sz="1200">
                <a:solidFill>
                  <a:srgbClr val="463214"/>
                </a:solidFill>
                <a:latin typeface="Calibri"/>
              </a:rPr>
              <a:t>Volume: conversation +10%. Not a shout. Not a mumble.</a:t>
            </a:r>
          </a:p>
          <a:p>
            <a:pPr>
              <a:spcAft>
                <a:spcPts val="600"/>
              </a:spcAft>
            </a:pPr>
            <a:r>
              <a:rPr sz="1200">
                <a:solidFill>
                  <a:srgbClr val="463214"/>
                </a:solidFill>
                <a:latin typeface="Calibri"/>
              </a:rPr>
              <a:t>Pitch: start mid, lift slightly on “AccessWork”, drop on “actually work”. That drop is the landing.</a:t>
            </a:r>
          </a:p>
          <a:p>
            <a:pPr>
              <a:spcAft>
                <a:spcPts val="600"/>
              </a:spcAft>
            </a:pPr>
            <a:r>
              <a:rPr sz="1200">
                <a:solidFill>
                  <a:srgbClr val="463214"/>
                </a:solidFill>
                <a:latin typeface="Calibri"/>
              </a:rPr>
              <a:t>If you rush this, the whole pitch feels cheap. Twenty seconds of stillness is leadership.</a:t>
            </a:r>
          </a:p>
        </p:txBody>
      </p:sp>
      <p:sp>
        <p:nvSpPr>
          <p:cNvPr id="11" name="TextBox 10"/>
          <p:cNvSpPr txBox="1"/>
          <p:nvPr/>
        </p:nvSpPr>
        <p:spPr>
          <a:xfrm>
            <a:off x="411480" y="6565392"/>
            <a:ext cx="7772400" cy="219456"/>
          </a:xfrm>
          <a:prstGeom prst="rect">
            <a:avLst/>
          </a:prstGeom>
          <a:noFill/>
        </p:spPr>
        <p:txBody>
          <a:bodyPr wrap="square">
            <a:spAutoFit/>
          </a:bodyPr>
          <a:lstStyle/>
          <a:p>
            <a:pPr algn="l"/>
            <a:r>
              <a:rPr sz="1100" b="0" i="0">
                <a:solidFill>
                  <a:srgbClr val="46484E"/>
                </a:solidFill>
                <a:latin typeface="Calibri"/>
              </a:rPr>
              <a:t>SPEAKER SCRIPT  ·  not for judges  ·  0:00–0:20</a:t>
            </a:r>
          </a:p>
        </p:txBody>
      </p:sp>
      <p:sp>
        <p:nvSpPr>
          <p:cNvPr id="12" name="TextBox 11"/>
          <p:cNvSpPr txBox="1"/>
          <p:nvPr/>
        </p:nvSpPr>
        <p:spPr>
          <a:xfrm>
            <a:off x="10607040" y="6565392"/>
            <a:ext cx="1188720" cy="219456"/>
          </a:xfrm>
          <a:prstGeom prst="rect">
            <a:avLst/>
          </a:prstGeom>
          <a:noFill/>
        </p:spPr>
        <p:txBody>
          <a:bodyPr wrap="square">
            <a:spAutoFit/>
          </a:bodyPr>
          <a:lstStyle/>
          <a:p>
            <a:pPr algn="r"/>
            <a:r>
              <a:rPr sz="1100" b="0" i="0">
                <a:solidFill>
                  <a:srgbClr val="46484E"/>
                </a:solidFill>
                <a:latin typeface="Calibri"/>
              </a:rPr>
              <a:t>cover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3F6"/>
        </a:solidFill>
        <a:effectLst/>
      </p:bgPr>
    </p:bg>
    <p:spTree>
      <p:nvGrpSpPr>
        <p:cNvPr id="1" name=""/>
        <p:cNvGrpSpPr/>
        <p:nvPr/>
      </p:nvGrpSpPr>
      <p:grpSpPr/>
      <p:pic>
        <p:nvPicPr>
          <p:cNvPr id="2" name="Picture 1" descr="s2_4.png"/>
          <p:cNvPicPr>
            <a:picLocks noChangeAspect="1"/>
          </p:cNvPicPr>
          <p:nvPr/>
        </p:nvPicPr>
        <p:blipFill>
          <a:blip r:embed="rId2"/>
          <a:stretch>
            <a:fillRect/>
          </a:stretch>
        </p:blipFill>
        <p:spPr>
          <a:xfrm>
            <a:off x="411480" y="256032"/>
            <a:ext cx="1005840" cy="82296"/>
          </a:xfrm>
          <a:prstGeom prst="rect">
            <a:avLst/>
          </a:prstGeom>
        </p:spPr>
      </p:pic>
      <p:sp>
        <p:nvSpPr>
          <p:cNvPr id="3" name="TextBox 2"/>
          <p:cNvSpPr txBox="1"/>
          <p:nvPr/>
        </p:nvSpPr>
        <p:spPr>
          <a:xfrm>
            <a:off x="411480" y="347472"/>
            <a:ext cx="11155680" cy="256032"/>
          </a:xfrm>
          <a:prstGeom prst="rect">
            <a:avLst/>
          </a:prstGeom>
          <a:noFill/>
        </p:spPr>
        <p:txBody>
          <a:bodyPr wrap="square">
            <a:spAutoFit/>
          </a:bodyPr>
          <a:lstStyle/>
          <a:p>
            <a:pPr algn="l"/>
            <a:r>
              <a:rPr sz="1300" b="1" i="0">
                <a:solidFill>
                  <a:srgbClr val="40A3A3"/>
                </a:solidFill>
                <a:latin typeface="Calibri"/>
              </a:rPr>
              <a:t>PUBLIC SLIDE 1  ·  0:20–1:30  ·  ~180 words</a:t>
            </a:r>
          </a:p>
        </p:txBody>
      </p:sp>
      <p:sp>
        <p:nvSpPr>
          <p:cNvPr id="4" name="TextBox 3"/>
          <p:cNvSpPr txBox="1"/>
          <p:nvPr/>
        </p:nvSpPr>
        <p:spPr>
          <a:xfrm>
            <a:off x="411480" y="566928"/>
            <a:ext cx="11155680" cy="384048"/>
          </a:xfrm>
          <a:prstGeom prst="rect">
            <a:avLst/>
          </a:prstGeom>
          <a:noFill/>
        </p:spPr>
        <p:txBody>
          <a:bodyPr wrap="square">
            <a:spAutoFit/>
          </a:bodyPr>
          <a:lstStyle/>
          <a:p>
            <a:pPr algn="l"/>
            <a:r>
              <a:rPr sz="2200" b="1" i="0">
                <a:solidFill>
                  <a:srgbClr val="111111"/>
                </a:solidFill>
                <a:latin typeface="Calibri"/>
              </a:rPr>
              <a:t>The questions. This is the story. Do not stack facts yet.</a:t>
            </a:r>
          </a:p>
        </p:txBody>
      </p:sp>
      <p:sp>
        <p:nvSpPr>
          <p:cNvPr id="5" name="Rounded Rectangle 4"/>
          <p:cNvSpPr/>
          <p:nvPr/>
        </p:nvSpPr>
        <p:spPr>
          <a:xfrm>
            <a:off x="411480" y="1024128"/>
            <a:ext cx="7452360" cy="5394960"/>
          </a:xfrm>
          <a:prstGeom prst="roundRect">
            <a:avLst>
              <a:gd name="adj" fmla="val 4000"/>
            </a:avLst>
          </a:prstGeom>
          <a:solidFill>
            <a:srgbClr val="FFFFFF"/>
          </a:solidFill>
          <a:ln>
            <a:solidFill>
              <a:srgbClr val="DC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115568"/>
            <a:ext cx="7178040" cy="5212080"/>
          </a:xfrm>
          <a:prstGeom prst="rect">
            <a:avLst/>
          </a:prstGeom>
          <a:noFill/>
        </p:spPr>
        <p:txBody>
          <a:bodyPr wrap="square">
            <a:spAutoFit/>
          </a:bodyPr>
          <a:lstStyle/>
          <a:p>
            <a:pPr>
              <a:spcAft>
                <a:spcPts val="600"/>
              </a:spcAft>
            </a:pPr>
            <a:r>
              <a:rPr sz="1500" b="1" i="0">
                <a:solidFill>
                  <a:srgbClr val="40A3A3"/>
                </a:solidFill>
                <a:latin typeface="Calibri"/>
              </a:rPr>
              <a:t>Deaf children go to school.</a:t>
            </a:r>
          </a:p>
          <a:p>
            <a:pPr>
              <a:spcAft>
                <a:spcPts val="600"/>
              </a:spcAft>
            </a:pPr>
            <a:r>
              <a:rPr sz="1500" b="0" i="1">
                <a:solidFill>
                  <a:srgbClr val="46484E"/>
                </a:solidFill>
                <a:latin typeface="Calibri"/>
              </a:rPr>
              <a:t>Softer, as if you are remembering someone:</a:t>
            </a:r>
          </a:p>
          <a:p>
            <a:pPr>
              <a:spcAft>
                <a:spcPts val="600"/>
              </a:spcAft>
            </a:pPr>
            <a:r>
              <a:rPr sz="1500" b="1" i="0">
                <a:solidFill>
                  <a:srgbClr val="40A3A3"/>
                </a:solidFill>
                <a:latin typeface="Calibri"/>
              </a:rPr>
              <a:t>They learn. They sit exams. They finish. Same as anyone’s cousin, anyone’s friend.</a:t>
            </a:r>
          </a:p>
          <a:p>
            <a:pPr>
              <a:spcAft>
                <a:spcPts val="600"/>
              </a:spcAft>
            </a:pPr>
            <a:r>
              <a:rPr sz="1500" b="1" i="0">
                <a:solidFill>
                  <a:srgbClr val="40A3A3"/>
                </a:solidFill>
                <a:latin typeface="Calibri"/>
              </a:rPr>
              <a:t>Have you ever wondered what their future looks like after that?</a:t>
            </a:r>
          </a:p>
          <a:p>
            <a:pPr>
              <a:spcAft>
                <a:spcPts val="600"/>
              </a:spcAft>
            </a:pPr>
            <a:r>
              <a:rPr sz="1500" b="0" i="1">
                <a:solidFill>
                  <a:srgbClr val="6B4706"/>
                </a:solidFill>
                <a:latin typeface="Calibri"/>
              </a:rPr>
              <a:t>[2-second pause. Do not fill it. Look at the room.]</a:t>
            </a:r>
          </a:p>
          <a:p>
            <a:pPr>
              <a:spcAft>
                <a:spcPts val="600"/>
              </a:spcAft>
            </a:pPr>
            <a:r>
              <a:rPr sz="1500" b="1" i="0">
                <a:solidFill>
                  <a:srgbClr val="40A3A3"/>
                </a:solidFill>
                <a:latin typeface="Calibri"/>
              </a:rPr>
              <a:t>Is it limited by their disability — or by the jobs we designed only for people who can hear?</a:t>
            </a:r>
          </a:p>
          <a:p>
            <a:pPr>
              <a:spcAft>
                <a:spcPts val="600"/>
              </a:spcAft>
            </a:pPr>
            <a:r>
              <a:rPr sz="1500" b="0" i="1">
                <a:solidFill>
                  <a:srgbClr val="46484E"/>
                </a:solidFill>
                <a:latin typeface="Calibri"/>
              </a:rPr>
              <a:t>Lean in. Honest, not accusing:</a:t>
            </a:r>
          </a:p>
          <a:p>
            <a:pPr>
              <a:spcAft>
                <a:spcPts val="600"/>
              </a:spcAft>
            </a:pPr>
            <a:r>
              <a:rPr sz="1500" b="1" i="0">
                <a:solidFill>
                  <a:srgbClr val="40A3A3"/>
                </a:solidFill>
                <a:latin typeface="Calibri"/>
              </a:rPr>
              <a:t>If you hired a young Deaf person tomorrow — be honest — what would your immediate thought be?</a:t>
            </a:r>
          </a:p>
          <a:p>
            <a:pPr>
              <a:spcAft>
                <a:spcPts val="600"/>
              </a:spcAft>
            </a:pPr>
            <a:r>
              <a:rPr sz="1500" b="0" i="1">
                <a:solidFill>
                  <a:srgbClr val="6B4706"/>
                </a:solidFill>
                <a:latin typeface="Calibri"/>
              </a:rPr>
              <a:t>[3-second pause. Count it: one-Mississippi, two, three.]</a:t>
            </a:r>
          </a:p>
          <a:p>
            <a:pPr>
              <a:spcAft>
                <a:spcPts val="600"/>
              </a:spcAft>
            </a:pPr>
            <a:r>
              <a:rPr sz="1500" b="0" i="0">
                <a:solidFill>
                  <a:srgbClr val="46484E"/>
                </a:solidFill>
                <a:latin typeface="Calibri"/>
              </a:rPr>
              <a:t>Quiet, slower:</a:t>
            </a:r>
          </a:p>
          <a:p>
            <a:pPr>
              <a:spcAft>
                <a:spcPts val="600"/>
              </a:spcAft>
            </a:pPr>
            <a:r>
              <a:rPr sz="1500" b="1" i="0">
                <a:solidFill>
                  <a:srgbClr val="40A3A3"/>
                </a:solidFill>
                <a:latin typeface="Calibri"/>
              </a:rPr>
              <a:t>For a lot of managers, the thought is: how will they talk to a guest?</a:t>
            </a:r>
          </a:p>
        </p:txBody>
      </p:sp>
      <p:sp>
        <p:nvSpPr>
          <p:cNvPr id="7" name="Rounded Rectangle 6"/>
          <p:cNvSpPr/>
          <p:nvPr/>
        </p:nvSpPr>
        <p:spPr>
          <a:xfrm>
            <a:off x="8046720" y="1024128"/>
            <a:ext cx="3703320" cy="5394960"/>
          </a:xfrm>
          <a:prstGeom prst="roundRect">
            <a:avLst>
              <a:gd name="adj" fmla="val 6000"/>
            </a:avLst>
          </a:prstGeom>
          <a:solidFill>
            <a:srgbClr val="FFF8E6"/>
          </a:solidFill>
          <a:ln>
            <a:solidFill>
              <a:srgbClr val="E8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11312" y="1115568"/>
            <a:ext cx="3429000" cy="292608"/>
          </a:xfrm>
          <a:prstGeom prst="rect">
            <a:avLst/>
          </a:prstGeom>
          <a:noFill/>
        </p:spPr>
        <p:txBody>
          <a:bodyPr wrap="square">
            <a:spAutoFit/>
          </a:bodyPr>
          <a:lstStyle/>
          <a:p>
            <a:pPr algn="l"/>
            <a:r>
              <a:rPr sz="1200" b="1" i="0">
                <a:solidFill>
                  <a:srgbClr val="6B4706"/>
                </a:solidFill>
                <a:latin typeface="Calibri"/>
              </a:rPr>
              <a:t>ROGER LOVE — voice notes</a:t>
            </a:r>
          </a:p>
        </p:txBody>
      </p:sp>
      <p:sp>
        <p:nvSpPr>
          <p:cNvPr id="9" name="TextBox 8"/>
          <p:cNvSpPr txBox="1"/>
          <p:nvPr/>
        </p:nvSpPr>
        <p:spPr>
          <a:xfrm>
            <a:off x="8211312" y="1408176"/>
            <a:ext cx="3374136" cy="4892040"/>
          </a:xfrm>
          <a:prstGeom prst="rect">
            <a:avLst/>
          </a:prstGeom>
          <a:noFill/>
        </p:spPr>
        <p:txBody>
          <a:bodyPr wrap="square">
            <a:spAutoFit/>
          </a:bodyPr>
          <a:lstStyle/>
          <a:p>
            <a:pPr>
              <a:spcAft>
                <a:spcPts val="600"/>
              </a:spcAft>
            </a:pPr>
            <a:r>
              <a:rPr sz="1200">
                <a:solidFill>
                  <a:srgbClr val="463214"/>
                </a:solidFill>
                <a:latin typeface="Calibri"/>
              </a:rPr>
              <a:t>Emotion: intimacy. You are not pitching yet. You are asking the room to meet a person.</a:t>
            </a:r>
          </a:p>
          <a:p>
            <a:pPr>
              <a:spcAft>
                <a:spcPts val="600"/>
              </a:spcAft>
            </a:pPr>
            <a:r>
              <a:rPr sz="1200">
                <a:solidFill>
                  <a:srgbClr val="463214"/>
                </a:solidFill>
                <a:latin typeface="Calibri"/>
              </a:rPr>
              <a:t>Melody: each question ends UP, like a real question. The last line ends DOWN. That is the bruise.</a:t>
            </a:r>
          </a:p>
          <a:p>
            <a:pPr>
              <a:spcAft>
                <a:spcPts val="600"/>
              </a:spcAft>
            </a:pPr>
            <a:r>
              <a:rPr sz="1200">
                <a:solidFill>
                  <a:srgbClr val="463214"/>
                </a:solidFill>
                <a:latin typeface="Calibri"/>
              </a:rPr>
              <a:t>Pace: 20% slower than you want. If you feel bored, you are at the right speed.</a:t>
            </a:r>
          </a:p>
          <a:p>
            <a:pPr>
              <a:spcAft>
                <a:spcPts val="600"/>
              </a:spcAft>
            </a:pPr>
            <a:r>
              <a:rPr sz="1200">
                <a:solidFill>
                  <a:srgbClr val="463214"/>
                </a:solidFill>
                <a:latin typeface="Calibri"/>
              </a:rPr>
              <a:t>The pause after “immediate thought be?” is the most important sound in the pitch. Silence makes them answer in their own head. If you jump in, you steal that.</a:t>
            </a:r>
          </a:p>
          <a:p>
            <a:pPr>
              <a:spcAft>
                <a:spcPts val="600"/>
              </a:spcAft>
            </a:pPr>
            <a:r>
              <a:rPr sz="1200">
                <a:solidFill>
                  <a:srgbClr val="463214"/>
                </a:solidFill>
                <a:latin typeface="Calibri"/>
              </a:rPr>
              <a:t>Do not act sad. Warm chest voice. Think of someone you love.</a:t>
            </a:r>
          </a:p>
          <a:p>
            <a:pPr>
              <a:spcAft>
                <a:spcPts val="600"/>
              </a:spcAft>
            </a:pPr>
            <a:r>
              <a:rPr sz="1200">
                <a:solidFill>
                  <a:srgbClr val="463214"/>
                </a:solidFill>
                <a:latin typeface="Calibri"/>
              </a:rPr>
              <a:t>Punch: “hear.” “guest.” Let them ring.</a:t>
            </a:r>
          </a:p>
        </p:txBody>
      </p:sp>
      <p:sp>
        <p:nvSpPr>
          <p:cNvPr id="10" name="TextBox 9"/>
          <p:cNvSpPr txBox="1"/>
          <p:nvPr/>
        </p:nvSpPr>
        <p:spPr>
          <a:xfrm>
            <a:off x="411480" y="6565392"/>
            <a:ext cx="7772400" cy="219456"/>
          </a:xfrm>
          <a:prstGeom prst="rect">
            <a:avLst/>
          </a:prstGeom>
          <a:noFill/>
        </p:spPr>
        <p:txBody>
          <a:bodyPr wrap="square">
            <a:spAutoFit/>
          </a:bodyPr>
          <a:lstStyle/>
          <a:p>
            <a:pPr algn="l"/>
            <a:r>
              <a:rPr sz="1100" b="0" i="0">
                <a:solidFill>
                  <a:srgbClr val="46484E"/>
                </a:solidFill>
                <a:latin typeface="Calibri"/>
              </a:rPr>
              <a:t>SPEAKER SCRIPT  ·  not for judges  ·  0:20–1:30</a:t>
            </a:r>
          </a:p>
        </p:txBody>
      </p:sp>
      <p:sp>
        <p:nvSpPr>
          <p:cNvPr id="11" name="TextBox 10"/>
          <p:cNvSpPr txBox="1"/>
          <p:nvPr/>
        </p:nvSpPr>
        <p:spPr>
          <a:xfrm>
            <a:off x="10607040" y="6565392"/>
            <a:ext cx="1188720" cy="219456"/>
          </a:xfrm>
          <a:prstGeom prst="rect">
            <a:avLst/>
          </a:prstGeom>
          <a:noFill/>
        </p:spPr>
        <p:txBody>
          <a:bodyPr wrap="square">
            <a:spAutoFit/>
          </a:bodyPr>
          <a:lstStyle/>
          <a:p>
            <a:pPr algn="r"/>
            <a:r>
              <a:rPr sz="1100" b="0" i="0">
                <a:solidFill>
                  <a:srgbClr val="46484E"/>
                </a:solidFill>
                <a:latin typeface="Calibri"/>
              </a:rPr>
              <a:t>1 questions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3F6"/>
        </a:solidFill>
        <a:effectLst/>
      </p:bgPr>
    </p:bg>
    <p:spTree>
      <p:nvGrpSpPr>
        <p:cNvPr id="1" name=""/>
        <p:cNvGrpSpPr/>
        <p:nvPr/>
      </p:nvGrpSpPr>
      <p:grpSpPr/>
      <p:pic>
        <p:nvPicPr>
          <p:cNvPr id="2" name="Picture 1" descr="s2_4.png"/>
          <p:cNvPicPr>
            <a:picLocks noChangeAspect="1"/>
          </p:cNvPicPr>
          <p:nvPr/>
        </p:nvPicPr>
        <p:blipFill>
          <a:blip r:embed="rId2"/>
          <a:stretch>
            <a:fillRect/>
          </a:stretch>
        </p:blipFill>
        <p:spPr>
          <a:xfrm>
            <a:off x="411480" y="256032"/>
            <a:ext cx="1005840" cy="82296"/>
          </a:xfrm>
          <a:prstGeom prst="rect">
            <a:avLst/>
          </a:prstGeom>
        </p:spPr>
      </p:pic>
      <p:sp>
        <p:nvSpPr>
          <p:cNvPr id="3" name="TextBox 2"/>
          <p:cNvSpPr txBox="1"/>
          <p:nvPr/>
        </p:nvSpPr>
        <p:spPr>
          <a:xfrm>
            <a:off x="411480" y="347472"/>
            <a:ext cx="11155680" cy="256032"/>
          </a:xfrm>
          <a:prstGeom prst="rect">
            <a:avLst/>
          </a:prstGeom>
          <a:noFill/>
        </p:spPr>
        <p:txBody>
          <a:bodyPr wrap="square">
            <a:spAutoFit/>
          </a:bodyPr>
          <a:lstStyle/>
          <a:p>
            <a:pPr algn="l"/>
            <a:r>
              <a:rPr sz="1300" b="1" i="0">
                <a:solidFill>
                  <a:srgbClr val="40A3A3"/>
                </a:solidFill>
                <a:latin typeface="Calibri"/>
              </a:rPr>
              <a:t>PUBLIC SLIDE 2  ·  1:30–2:40  ·  ~190 words</a:t>
            </a:r>
          </a:p>
        </p:txBody>
      </p:sp>
      <p:sp>
        <p:nvSpPr>
          <p:cNvPr id="4" name="TextBox 3"/>
          <p:cNvSpPr txBox="1"/>
          <p:nvPr/>
        </p:nvSpPr>
        <p:spPr>
          <a:xfrm>
            <a:off x="411480" y="566928"/>
            <a:ext cx="11155680" cy="384048"/>
          </a:xfrm>
          <a:prstGeom prst="rect">
            <a:avLst/>
          </a:prstGeom>
          <a:noFill/>
        </p:spPr>
        <p:txBody>
          <a:bodyPr wrap="square">
            <a:spAutoFit/>
          </a:bodyPr>
          <a:lstStyle/>
          <a:p>
            <a:pPr algn="l"/>
            <a:r>
              <a:rPr sz="2200" b="1" i="0">
                <a:solidFill>
                  <a:srgbClr val="111111"/>
                </a:solidFill>
                <a:latin typeface="Calibri"/>
              </a:rPr>
              <a:t>The facts. Punch the numbers. Then paint the desk.</a:t>
            </a:r>
          </a:p>
        </p:txBody>
      </p:sp>
      <p:sp>
        <p:nvSpPr>
          <p:cNvPr id="5" name="Rounded Rectangle 4"/>
          <p:cNvSpPr/>
          <p:nvPr/>
        </p:nvSpPr>
        <p:spPr>
          <a:xfrm>
            <a:off x="411480" y="1024128"/>
            <a:ext cx="7452360" cy="5394960"/>
          </a:xfrm>
          <a:prstGeom prst="roundRect">
            <a:avLst>
              <a:gd name="adj" fmla="val 4000"/>
            </a:avLst>
          </a:prstGeom>
          <a:solidFill>
            <a:srgbClr val="FFFFFF"/>
          </a:solidFill>
          <a:ln>
            <a:solidFill>
              <a:srgbClr val="DC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115568"/>
            <a:ext cx="7178040" cy="5212080"/>
          </a:xfrm>
          <a:prstGeom prst="rect">
            <a:avLst/>
          </a:prstGeom>
          <a:noFill/>
        </p:spPr>
        <p:txBody>
          <a:bodyPr wrap="square">
            <a:spAutoFit/>
          </a:bodyPr>
          <a:lstStyle/>
          <a:p>
            <a:pPr>
              <a:spcAft>
                <a:spcPts val="500"/>
              </a:spcAft>
            </a:pPr>
            <a:r>
              <a:rPr sz="1400" b="0" i="1">
                <a:solidFill>
                  <a:srgbClr val="46484E"/>
                </a:solidFill>
                <a:latin typeface="Calibri"/>
              </a:rPr>
              <a:t>Energy up. Firmer. You are not angry. You are clear.</a:t>
            </a:r>
          </a:p>
          <a:p>
            <a:pPr>
              <a:spcAft>
                <a:spcPts val="500"/>
              </a:spcAft>
            </a:pPr>
            <a:r>
              <a:rPr sz="1400" b="1" i="0">
                <a:solidFill>
                  <a:srgbClr val="40A3A3"/>
                </a:solidFill>
                <a:latin typeface="Calibri"/>
              </a:rPr>
              <a:t>That thought is why hospitality still cannot put them at the desk.</a:t>
            </a:r>
          </a:p>
          <a:p>
            <a:pPr>
              <a:spcAft>
                <a:spcPts val="500"/>
              </a:spcAft>
            </a:pPr>
            <a:r>
              <a:rPr sz="1400" b="1" i="0">
                <a:solidFill>
                  <a:srgbClr val="40A3A3"/>
                </a:solidFill>
                <a:latin typeface="Calibri"/>
              </a:rPr>
              <a:t>Kenya already asks hotels for a 5% disability employment quota.</a:t>
            </a:r>
          </a:p>
          <a:p>
            <a:pPr>
              <a:spcAft>
                <a:spcPts val="500"/>
              </a:spcAft>
            </a:pPr>
            <a:r>
              <a:rPr sz="1400" b="0" i="0">
                <a:solidFill>
                  <a:srgbClr val="46484E"/>
                </a:solidFill>
                <a:latin typeface="Calibri"/>
              </a:rPr>
              <a:t>Hold “five percent”. Do not swallow it.</a:t>
            </a:r>
          </a:p>
          <a:p>
            <a:pPr>
              <a:spcAft>
                <a:spcPts val="500"/>
              </a:spcAft>
            </a:pPr>
            <a:r>
              <a:rPr sz="1400" b="1" i="0">
                <a:solidFill>
                  <a:srgbClr val="40A3A3"/>
                </a:solidFill>
                <a:latin typeface="Calibri"/>
              </a:rPr>
              <a:t>A study of Nairobi 3-to-5-star hotels found none of them met it. Not one.</a:t>
            </a:r>
          </a:p>
          <a:p>
            <a:pPr>
              <a:spcAft>
                <a:spcPts val="500"/>
              </a:spcAft>
            </a:pPr>
            <a:r>
              <a:rPr sz="1400" b="1" i="0">
                <a:solidFill>
                  <a:srgbClr val="40A3A3"/>
                </a:solidFill>
                <a:latin typeface="Calibri"/>
              </a:rPr>
              <a:t>About 600,000 Deaf people live in this country.</a:t>
            </a:r>
          </a:p>
          <a:p>
            <a:pPr>
              <a:spcAft>
                <a:spcPts val="500"/>
              </a:spcAft>
            </a:pPr>
            <a:r>
              <a:rPr sz="1400" b="0" i="0">
                <a:solidFill>
                  <a:srgbClr val="46484E"/>
                </a:solidFill>
                <a:latin typeface="Calibri"/>
              </a:rPr>
              <a:t>Beat, then:</a:t>
            </a:r>
          </a:p>
          <a:p>
            <a:pPr>
              <a:spcAft>
                <a:spcPts val="500"/>
              </a:spcAft>
            </a:pPr>
            <a:r>
              <a:rPr sz="1400" b="1" i="0">
                <a:solidFill>
                  <a:srgbClr val="40A3A3"/>
                </a:solidFill>
                <a:latin typeface="Calibri"/>
              </a:rPr>
              <a:t>The hardest step is not school. It is the first job — especially a job built around speech.</a:t>
            </a:r>
          </a:p>
          <a:p>
            <a:pPr>
              <a:spcAft>
                <a:spcPts val="500"/>
              </a:spcAft>
            </a:pPr>
            <a:r>
              <a:rPr sz="1400" b="0" i="1">
                <a:solidFill>
                  <a:srgbClr val="46484E"/>
                </a:solidFill>
                <a:latin typeface="Calibri"/>
              </a:rPr>
              <a:t>Picture it, slower:</a:t>
            </a:r>
          </a:p>
          <a:p>
            <a:pPr>
              <a:spcAft>
                <a:spcPts val="500"/>
              </a:spcAft>
            </a:pPr>
            <a:r>
              <a:rPr sz="1400" b="1" i="0">
                <a:solidFill>
                  <a:srgbClr val="40A3A3"/>
                </a:solidFill>
                <a:latin typeface="Calibri"/>
              </a:rPr>
              <a:t>The front desk is still a spoken job. Guests talk. Staff answer by talking. So a trained Deaf receptionist is standing outside the most visible role in the hotel, waiting for a hearing colleague to interpret “breakfast is until 10.”</a:t>
            </a:r>
          </a:p>
        </p:txBody>
      </p:sp>
      <p:sp>
        <p:nvSpPr>
          <p:cNvPr id="7" name="Rounded Rectangle 6"/>
          <p:cNvSpPr/>
          <p:nvPr/>
        </p:nvSpPr>
        <p:spPr>
          <a:xfrm>
            <a:off x="8046720" y="1024128"/>
            <a:ext cx="3703320" cy="5394960"/>
          </a:xfrm>
          <a:prstGeom prst="roundRect">
            <a:avLst>
              <a:gd name="adj" fmla="val 6000"/>
            </a:avLst>
          </a:prstGeom>
          <a:solidFill>
            <a:srgbClr val="FFF8E6"/>
          </a:solidFill>
          <a:ln>
            <a:solidFill>
              <a:srgbClr val="E8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11312" y="1115568"/>
            <a:ext cx="3429000" cy="292608"/>
          </a:xfrm>
          <a:prstGeom prst="rect">
            <a:avLst/>
          </a:prstGeom>
          <a:noFill/>
        </p:spPr>
        <p:txBody>
          <a:bodyPr wrap="square">
            <a:spAutoFit/>
          </a:bodyPr>
          <a:lstStyle/>
          <a:p>
            <a:pPr algn="l"/>
            <a:r>
              <a:rPr sz="1200" b="1" i="0">
                <a:solidFill>
                  <a:srgbClr val="6B4706"/>
                </a:solidFill>
                <a:latin typeface="Calibri"/>
              </a:rPr>
              <a:t>ROGER LOVE — voice notes</a:t>
            </a:r>
          </a:p>
        </p:txBody>
      </p:sp>
      <p:sp>
        <p:nvSpPr>
          <p:cNvPr id="9" name="TextBox 8"/>
          <p:cNvSpPr txBox="1"/>
          <p:nvPr/>
        </p:nvSpPr>
        <p:spPr>
          <a:xfrm>
            <a:off x="8211312" y="1408176"/>
            <a:ext cx="3374136" cy="4892040"/>
          </a:xfrm>
          <a:prstGeom prst="rect">
            <a:avLst/>
          </a:prstGeom>
          <a:noFill/>
        </p:spPr>
        <p:txBody>
          <a:bodyPr wrap="square">
            <a:spAutoFit/>
          </a:bodyPr>
          <a:lstStyle/>
          <a:p>
            <a:pPr>
              <a:spcAft>
                <a:spcPts val="600"/>
              </a:spcAft>
            </a:pPr>
            <a:r>
              <a:rPr sz="1200">
                <a:solidFill>
                  <a:srgbClr val="463214"/>
                </a:solidFill>
                <a:latin typeface="Calibri"/>
              </a:rPr>
              <a:t>Numbers sit on a lower note and get a tiny pause after: “five percent.” [rest] “Not one.” [rest]</a:t>
            </a:r>
          </a:p>
          <a:p>
            <a:pPr>
              <a:spcAft>
                <a:spcPts val="600"/>
              </a:spcAft>
            </a:pPr>
            <a:r>
              <a:rPr sz="1200">
                <a:solidFill>
                  <a:srgbClr val="463214"/>
                </a:solidFill>
                <a:latin typeface="Calibri"/>
              </a:rPr>
              <a:t>Staccato on the three facts. Then legato on the breakfast line — that line is the movie.</a:t>
            </a:r>
          </a:p>
          <a:p>
            <a:pPr>
              <a:spcAft>
                <a:spcPts val="600"/>
              </a:spcAft>
            </a:pPr>
            <a:r>
              <a:rPr sz="1200">
                <a:solidFill>
                  <a:srgbClr val="463214"/>
                </a:solidFill>
                <a:latin typeface="Calibri"/>
              </a:rPr>
              <a:t>Volume: 7 out of 10 on “not one”. Back to 5 on the last sentence. Contrast is emotion.</a:t>
            </a:r>
          </a:p>
          <a:p>
            <a:pPr>
              <a:spcAft>
                <a:spcPts val="600"/>
              </a:spcAft>
            </a:pPr>
            <a:r>
              <a:rPr sz="1200">
                <a:solidFill>
                  <a:srgbClr val="463214"/>
                </a:solidFill>
                <a:latin typeface="Calibri"/>
              </a:rPr>
              <a:t>Do not stack more statistics. Three is the rule of three. The brain keeps three.</a:t>
            </a:r>
          </a:p>
          <a:p>
            <a:pPr>
              <a:spcAft>
                <a:spcPts val="600"/>
              </a:spcAft>
            </a:pPr>
            <a:r>
              <a:rPr sz="1200">
                <a:solidFill>
                  <a:srgbClr val="463214"/>
                </a:solidFill>
                <a:latin typeface="Calibri"/>
              </a:rPr>
              <a:t>If you smile on “not one” you undercut it. Neutral face. Warm voice.</a:t>
            </a:r>
          </a:p>
          <a:p>
            <a:pPr>
              <a:spcAft>
                <a:spcPts val="600"/>
              </a:spcAft>
            </a:pPr>
            <a:r>
              <a:rPr sz="1200">
                <a:solidFill>
                  <a:srgbClr val="463214"/>
                </a:solidFill>
                <a:latin typeface="Calibri"/>
              </a:rPr>
              <a:t>Gesture: one finger on 5%, open hand on 600,000, point to an imaginary desk on “front desk”.</a:t>
            </a:r>
          </a:p>
        </p:txBody>
      </p:sp>
      <p:sp>
        <p:nvSpPr>
          <p:cNvPr id="10" name="TextBox 9"/>
          <p:cNvSpPr txBox="1"/>
          <p:nvPr/>
        </p:nvSpPr>
        <p:spPr>
          <a:xfrm>
            <a:off x="411480" y="6565392"/>
            <a:ext cx="7772400" cy="219456"/>
          </a:xfrm>
          <a:prstGeom prst="rect">
            <a:avLst/>
          </a:prstGeom>
          <a:noFill/>
        </p:spPr>
        <p:txBody>
          <a:bodyPr wrap="square">
            <a:spAutoFit/>
          </a:bodyPr>
          <a:lstStyle/>
          <a:p>
            <a:pPr algn="l"/>
            <a:r>
              <a:rPr sz="1100" b="0" i="0">
                <a:solidFill>
                  <a:srgbClr val="46484E"/>
                </a:solidFill>
                <a:latin typeface="Calibri"/>
              </a:rPr>
              <a:t>SPEAKER SCRIPT  ·  not for judges  ·  1:30–2:40</a:t>
            </a:r>
          </a:p>
        </p:txBody>
      </p:sp>
      <p:sp>
        <p:nvSpPr>
          <p:cNvPr id="11" name="TextBox 10"/>
          <p:cNvSpPr txBox="1"/>
          <p:nvPr/>
        </p:nvSpPr>
        <p:spPr>
          <a:xfrm>
            <a:off x="10607040" y="6565392"/>
            <a:ext cx="1188720" cy="219456"/>
          </a:xfrm>
          <a:prstGeom prst="rect">
            <a:avLst/>
          </a:prstGeom>
          <a:noFill/>
        </p:spPr>
        <p:txBody>
          <a:bodyPr wrap="square">
            <a:spAutoFit/>
          </a:bodyPr>
          <a:lstStyle/>
          <a:p>
            <a:pPr algn="r"/>
            <a:r>
              <a:rPr sz="1100" b="0" i="0">
                <a:solidFill>
                  <a:srgbClr val="46484E"/>
                </a:solidFill>
                <a:latin typeface="Calibri"/>
              </a:rPr>
              <a:t>2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6"/>
        </a:solidFill>
        <a:effectLst/>
      </p:bgPr>
    </p:bg>
    <p:spTree>
      <p:nvGrpSpPr>
        <p:cNvPr id="1" name=""/>
        <p:cNvGrpSpPr/>
        <p:nvPr/>
      </p:nvGrpSpPr>
      <p:grpSpPr/>
      <p:pic>
        <p:nvPicPr>
          <p:cNvPr id="2" name="Picture 1" descr="s2_4.png"/>
          <p:cNvPicPr>
            <a:picLocks noChangeAspect="1"/>
          </p:cNvPicPr>
          <p:nvPr/>
        </p:nvPicPr>
        <p:blipFill>
          <a:blip r:embed="rId2"/>
          <a:stretch>
            <a:fillRect/>
          </a:stretch>
        </p:blipFill>
        <p:spPr>
          <a:xfrm>
            <a:off x="411480" y="256032"/>
            <a:ext cx="1005840" cy="82296"/>
          </a:xfrm>
          <a:prstGeom prst="rect">
            <a:avLst/>
          </a:prstGeom>
        </p:spPr>
      </p:pic>
      <p:sp>
        <p:nvSpPr>
          <p:cNvPr id="3" name="TextBox 2"/>
          <p:cNvSpPr txBox="1"/>
          <p:nvPr/>
        </p:nvSpPr>
        <p:spPr>
          <a:xfrm>
            <a:off x="411480" y="347472"/>
            <a:ext cx="11155680" cy="256032"/>
          </a:xfrm>
          <a:prstGeom prst="rect">
            <a:avLst/>
          </a:prstGeom>
          <a:noFill/>
        </p:spPr>
        <p:txBody>
          <a:bodyPr wrap="square">
            <a:spAutoFit/>
          </a:bodyPr>
          <a:lstStyle/>
          <a:p>
            <a:pPr algn="l"/>
            <a:r>
              <a:rPr sz="1300" b="1" i="0">
                <a:solidFill>
                  <a:srgbClr val="40A3A3"/>
                </a:solidFill>
                <a:latin typeface="Calibri"/>
              </a:rPr>
              <a:t>PUBLIC SLIDE 3  ·  2:40–3:40  ·  ~160 words</a:t>
            </a:r>
          </a:p>
        </p:txBody>
      </p:sp>
      <p:sp>
        <p:nvSpPr>
          <p:cNvPr id="4" name="TextBox 3"/>
          <p:cNvSpPr txBox="1"/>
          <p:nvPr/>
        </p:nvSpPr>
        <p:spPr>
          <a:xfrm>
            <a:off x="411480" y="566928"/>
            <a:ext cx="11155680" cy="411480"/>
          </a:xfrm>
          <a:prstGeom prst="rect">
            <a:avLst/>
          </a:prstGeom>
          <a:noFill/>
        </p:spPr>
        <p:txBody>
          <a:bodyPr wrap="square">
            <a:spAutoFit/>
          </a:bodyPr>
          <a:lstStyle/>
          <a:p>
            <a:pPr algn="l"/>
            <a:r>
              <a:rPr sz="2200" b="1" i="0">
                <a:solidFill>
                  <a:srgbClr val="111111"/>
                </a:solidFill>
                <a:latin typeface="Calibri"/>
              </a:rPr>
              <a:t>Turn the bruise into a door. Brighter. Forward.</a:t>
            </a:r>
          </a:p>
        </p:txBody>
      </p:sp>
      <p:sp>
        <p:nvSpPr>
          <p:cNvPr id="5" name="Rounded Rectangle 4"/>
          <p:cNvSpPr/>
          <p:nvPr/>
        </p:nvSpPr>
        <p:spPr>
          <a:xfrm>
            <a:off x="411480" y="1024128"/>
            <a:ext cx="7452360" cy="5394960"/>
          </a:xfrm>
          <a:prstGeom prst="roundRect">
            <a:avLst>
              <a:gd name="adj" fmla="val 4000"/>
            </a:avLst>
          </a:prstGeom>
          <a:solidFill>
            <a:srgbClr val="FFFFFF"/>
          </a:solidFill>
          <a:ln>
            <a:solidFill>
              <a:srgbClr val="DC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115568"/>
            <a:ext cx="7178040" cy="5212080"/>
          </a:xfrm>
          <a:prstGeom prst="rect">
            <a:avLst/>
          </a:prstGeom>
          <a:noFill/>
        </p:spPr>
        <p:txBody>
          <a:bodyPr wrap="square">
            <a:spAutoFit/>
          </a:bodyPr>
          <a:lstStyle/>
          <a:p>
            <a:pPr>
              <a:spcAft>
                <a:spcPts val="600"/>
              </a:spcAft>
            </a:pPr>
            <a:r>
              <a:rPr sz="1400" b="1" i="0">
                <a:solidFill>
                  <a:srgbClr val="40A3A3"/>
                </a:solidFill>
                <a:latin typeface="Calibri"/>
              </a:rPr>
              <a:t>That gap is not only a failure. It is a hiring door hospitality has not opened.</a:t>
            </a:r>
          </a:p>
          <a:p>
            <a:pPr>
              <a:spcAft>
                <a:spcPts val="600"/>
              </a:spcAft>
            </a:pPr>
            <a:r>
              <a:rPr sz="1400" b="1" i="0">
                <a:solidFill>
                  <a:srgbClr val="40A3A3"/>
                </a:solidFill>
                <a:latin typeface="Calibri"/>
              </a:rPr>
              <a:t>The quota is already law. Tourism is already hiring. Deaf young people already finish school.</a:t>
            </a:r>
          </a:p>
          <a:p>
            <a:pPr>
              <a:spcAft>
                <a:spcPts val="600"/>
              </a:spcAft>
            </a:pPr>
            <a:r>
              <a:rPr sz="1400" b="0" i="0">
                <a:solidFill>
                  <a:srgbClr val="46484E"/>
                </a:solidFill>
                <a:latin typeface="Calibri"/>
              </a:rPr>
              <a:t>Three short hits. Then:</a:t>
            </a:r>
          </a:p>
          <a:p>
            <a:pPr>
              <a:spcAft>
                <a:spcPts val="600"/>
              </a:spcAft>
            </a:pPr>
            <a:r>
              <a:rPr sz="1400" b="1" i="0">
                <a:solidFill>
                  <a:srgbClr val="40A3A3"/>
                </a:solidFill>
                <a:latin typeface="Calibri"/>
              </a:rPr>
              <a:t>The missing piece is a desk they can actually work.</a:t>
            </a:r>
          </a:p>
          <a:p>
            <a:pPr>
              <a:spcAft>
                <a:spcPts val="600"/>
              </a:spcAft>
            </a:pPr>
            <a:r>
              <a:rPr sz="1400" b="0" i="1">
                <a:solidFill>
                  <a:srgbClr val="46484E"/>
                </a:solidFill>
                <a:latin typeface="Calibri"/>
              </a:rPr>
              <a:t>Turn your body slightly as you name each group — it keeps the melody moving.</a:t>
            </a:r>
          </a:p>
          <a:p>
            <a:pPr>
              <a:spcAft>
                <a:spcPts val="600"/>
              </a:spcAft>
            </a:pPr>
            <a:r>
              <a:rPr sz="1400" b="1" i="0">
                <a:solidFill>
                  <a:srgbClr val="40A3A3"/>
                </a:solidFill>
                <a:latin typeface="Calibri"/>
              </a:rPr>
              <a:t>For hotels: meet the quota at the most public job in the building — without waiting for a colleague to interpret every check-in.</a:t>
            </a:r>
          </a:p>
          <a:p>
            <a:pPr>
              <a:spcAft>
                <a:spcPts val="600"/>
              </a:spcAft>
            </a:pPr>
            <a:r>
              <a:rPr sz="1400" b="1" i="0">
                <a:solidFill>
                  <a:srgbClr val="40A3A3"/>
                </a:solidFill>
                <a:latin typeface="Calibri"/>
              </a:rPr>
              <a:t>For Deaf youth: a real first career. Wages. Skills. A role guests walk up to every day.</a:t>
            </a:r>
          </a:p>
          <a:p>
            <a:pPr>
              <a:spcAft>
                <a:spcPts val="600"/>
              </a:spcAft>
            </a:pPr>
            <a:r>
              <a:rPr sz="1400" b="1" i="0">
                <a:solidFill>
                  <a:srgbClr val="40A3A3"/>
                </a:solidFill>
                <a:latin typeface="Calibri"/>
              </a:rPr>
              <a:t>For guests: they speak as they always do. They leave understood. The hotel looks inclusive because it is.</a:t>
            </a:r>
          </a:p>
        </p:txBody>
      </p:sp>
      <p:sp>
        <p:nvSpPr>
          <p:cNvPr id="7" name="Rounded Rectangle 6"/>
          <p:cNvSpPr/>
          <p:nvPr/>
        </p:nvSpPr>
        <p:spPr>
          <a:xfrm>
            <a:off x="8046720" y="1024128"/>
            <a:ext cx="3703320" cy="5394960"/>
          </a:xfrm>
          <a:prstGeom prst="roundRect">
            <a:avLst>
              <a:gd name="adj" fmla="val 6000"/>
            </a:avLst>
          </a:prstGeom>
          <a:solidFill>
            <a:srgbClr val="FFF8E6"/>
          </a:solidFill>
          <a:ln>
            <a:solidFill>
              <a:srgbClr val="E8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11312" y="1115568"/>
            <a:ext cx="3429000" cy="292608"/>
          </a:xfrm>
          <a:prstGeom prst="rect">
            <a:avLst/>
          </a:prstGeom>
          <a:noFill/>
        </p:spPr>
        <p:txBody>
          <a:bodyPr wrap="square">
            <a:spAutoFit/>
          </a:bodyPr>
          <a:lstStyle/>
          <a:p>
            <a:pPr algn="l"/>
            <a:r>
              <a:rPr sz="1200" b="1" i="0">
                <a:solidFill>
                  <a:srgbClr val="6B4706"/>
                </a:solidFill>
                <a:latin typeface="Calibri"/>
              </a:rPr>
              <a:t>ROGER LOVE — voice notes</a:t>
            </a:r>
          </a:p>
        </p:txBody>
      </p:sp>
      <p:sp>
        <p:nvSpPr>
          <p:cNvPr id="9" name="TextBox 8"/>
          <p:cNvSpPr txBox="1"/>
          <p:nvPr/>
        </p:nvSpPr>
        <p:spPr>
          <a:xfrm>
            <a:off x="8211312" y="1408176"/>
            <a:ext cx="3374136" cy="4892040"/>
          </a:xfrm>
          <a:prstGeom prst="rect">
            <a:avLst/>
          </a:prstGeom>
          <a:noFill/>
        </p:spPr>
        <p:txBody>
          <a:bodyPr wrap="square">
            <a:spAutoFit/>
          </a:bodyPr>
          <a:lstStyle/>
          <a:p>
            <a:pPr>
              <a:spcAft>
                <a:spcPts val="600"/>
              </a:spcAft>
            </a:pPr>
            <a:r>
              <a:rPr sz="1200">
                <a:solidFill>
                  <a:srgbClr val="463214"/>
                </a:solidFill>
                <a:latin typeface="Calibri"/>
              </a:rPr>
              <a:t>This is the lift. Smile is allowed. Eyes brighter. Still 10% louder.</a:t>
            </a:r>
          </a:p>
          <a:p>
            <a:pPr>
              <a:spcAft>
                <a:spcPts val="600"/>
              </a:spcAft>
            </a:pPr>
            <a:r>
              <a:rPr sz="1200">
                <a:solidFill>
                  <a:srgbClr val="463214"/>
                </a:solidFill>
                <a:latin typeface="Calibri"/>
              </a:rPr>
              <a:t>Triplet: “already law / already hiring / already finish school.” Same rhythm, like a drum fill, then land on “missing piece”.</a:t>
            </a:r>
          </a:p>
          <a:p>
            <a:pPr>
              <a:spcAft>
                <a:spcPts val="600"/>
              </a:spcAft>
            </a:pPr>
            <a:r>
              <a:rPr sz="1200">
                <a:solidFill>
                  <a:srgbClr val="463214"/>
                </a:solidFill>
                <a:latin typeface="Calibri"/>
              </a:rPr>
              <a:t>Do not rush “because it is.” That last clause is a punchline of integrity. Drop the pitch. Stop.</a:t>
            </a:r>
          </a:p>
          <a:p>
            <a:pPr>
              <a:spcAft>
                <a:spcPts val="600"/>
              </a:spcAft>
            </a:pPr>
            <a:r>
              <a:rPr sz="1200">
                <a:solidFill>
                  <a:srgbClr val="463214"/>
                </a:solidFill>
                <a:latin typeface="Calibri"/>
              </a:rPr>
              <a:t>If you sound like a CSR brochure, you lost. Keep it concrete: check-in, wages, walk up to.</a:t>
            </a:r>
          </a:p>
          <a:p>
            <a:pPr>
              <a:spcAft>
                <a:spcPts val="600"/>
              </a:spcAft>
            </a:pPr>
            <a:r>
              <a:rPr sz="1200">
                <a:solidFill>
                  <a:srgbClr val="463214"/>
                </a:solidFill>
                <a:latin typeface="Calibri"/>
              </a:rPr>
              <a:t>Breath before “For hotels”. Each “For…” is a new paragraph in the voice.</a:t>
            </a:r>
          </a:p>
        </p:txBody>
      </p:sp>
      <p:sp>
        <p:nvSpPr>
          <p:cNvPr id="10" name="TextBox 9"/>
          <p:cNvSpPr txBox="1"/>
          <p:nvPr/>
        </p:nvSpPr>
        <p:spPr>
          <a:xfrm>
            <a:off x="411480" y="6565392"/>
            <a:ext cx="7772400" cy="219456"/>
          </a:xfrm>
          <a:prstGeom prst="rect">
            <a:avLst/>
          </a:prstGeom>
          <a:noFill/>
        </p:spPr>
        <p:txBody>
          <a:bodyPr wrap="square">
            <a:spAutoFit/>
          </a:bodyPr>
          <a:lstStyle/>
          <a:p>
            <a:pPr algn="l"/>
            <a:r>
              <a:rPr sz="1100" b="0" i="0">
                <a:solidFill>
                  <a:srgbClr val="46484E"/>
                </a:solidFill>
                <a:latin typeface="Calibri"/>
              </a:rPr>
              <a:t>SPEAKER SCRIPT  ·  not for judges  ·  2:40–3:40</a:t>
            </a:r>
          </a:p>
        </p:txBody>
      </p:sp>
      <p:sp>
        <p:nvSpPr>
          <p:cNvPr id="11" name="TextBox 10"/>
          <p:cNvSpPr txBox="1"/>
          <p:nvPr/>
        </p:nvSpPr>
        <p:spPr>
          <a:xfrm>
            <a:off x="10607040" y="6565392"/>
            <a:ext cx="1188720" cy="219456"/>
          </a:xfrm>
          <a:prstGeom prst="rect">
            <a:avLst/>
          </a:prstGeom>
          <a:noFill/>
        </p:spPr>
        <p:txBody>
          <a:bodyPr wrap="square">
            <a:spAutoFit/>
          </a:bodyPr>
          <a:lstStyle/>
          <a:p>
            <a:pPr algn="r"/>
            <a:r>
              <a:rPr sz="1100" b="0" i="0">
                <a:solidFill>
                  <a:srgbClr val="46484E"/>
                </a:solidFill>
                <a:latin typeface="Calibri"/>
              </a:rPr>
              <a:t>3 opportunity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6"/>
        </a:solidFill>
        <a:effectLst/>
      </p:bgPr>
    </p:bg>
    <p:spTree>
      <p:nvGrpSpPr>
        <p:cNvPr id="1" name=""/>
        <p:cNvGrpSpPr/>
        <p:nvPr/>
      </p:nvGrpSpPr>
      <p:grpSpPr/>
      <p:pic>
        <p:nvPicPr>
          <p:cNvPr id="2" name="Picture 1" descr="s2_4.png"/>
          <p:cNvPicPr>
            <a:picLocks noChangeAspect="1"/>
          </p:cNvPicPr>
          <p:nvPr/>
        </p:nvPicPr>
        <p:blipFill>
          <a:blip r:embed="rId2"/>
          <a:stretch>
            <a:fillRect/>
          </a:stretch>
        </p:blipFill>
        <p:spPr>
          <a:xfrm>
            <a:off x="411480" y="256032"/>
            <a:ext cx="1005840" cy="82296"/>
          </a:xfrm>
          <a:prstGeom prst="rect">
            <a:avLst/>
          </a:prstGeom>
        </p:spPr>
      </p:pic>
      <p:sp>
        <p:nvSpPr>
          <p:cNvPr id="3" name="TextBox 2"/>
          <p:cNvSpPr txBox="1"/>
          <p:nvPr/>
        </p:nvSpPr>
        <p:spPr>
          <a:xfrm>
            <a:off x="411480" y="347472"/>
            <a:ext cx="11155680" cy="256032"/>
          </a:xfrm>
          <a:prstGeom prst="rect">
            <a:avLst/>
          </a:prstGeom>
          <a:noFill/>
        </p:spPr>
        <p:txBody>
          <a:bodyPr wrap="square">
            <a:spAutoFit/>
          </a:bodyPr>
          <a:lstStyle/>
          <a:p>
            <a:pPr algn="l"/>
            <a:r>
              <a:rPr sz="1300" b="1" i="0">
                <a:solidFill>
                  <a:srgbClr val="40A3A3"/>
                </a:solidFill>
                <a:latin typeface="Calibri"/>
              </a:rPr>
              <a:t>PUBLIC SLIDE 4  ·  3:40–5:20  ·  longest beat  ·  ~220 words + demo</a:t>
            </a:r>
          </a:p>
        </p:txBody>
      </p:sp>
      <p:sp>
        <p:nvSpPr>
          <p:cNvPr id="4" name="TextBox 3"/>
          <p:cNvSpPr txBox="1"/>
          <p:nvPr/>
        </p:nvSpPr>
        <p:spPr>
          <a:xfrm>
            <a:off x="411480" y="566928"/>
            <a:ext cx="11155680" cy="384048"/>
          </a:xfrm>
          <a:prstGeom prst="rect">
            <a:avLst/>
          </a:prstGeom>
          <a:noFill/>
        </p:spPr>
        <p:txBody>
          <a:bodyPr wrap="square">
            <a:spAutoFit/>
          </a:bodyPr>
          <a:lstStyle/>
          <a:p>
            <a:pPr algn="l"/>
            <a:r>
              <a:rPr sz="2200" b="1" i="0">
                <a:solidFill>
                  <a:srgbClr val="111111"/>
                </a:solidFill>
                <a:latin typeface="Calibri"/>
              </a:rPr>
              <a:t>How it works. One, two, three. Then show. Then shut up.</a:t>
            </a:r>
          </a:p>
        </p:txBody>
      </p:sp>
      <p:sp>
        <p:nvSpPr>
          <p:cNvPr id="5" name="Rounded Rectangle 4"/>
          <p:cNvSpPr/>
          <p:nvPr/>
        </p:nvSpPr>
        <p:spPr>
          <a:xfrm>
            <a:off x="411480" y="987552"/>
            <a:ext cx="7452360" cy="5440680"/>
          </a:xfrm>
          <a:prstGeom prst="roundRect">
            <a:avLst>
              <a:gd name="adj" fmla="val 4000"/>
            </a:avLst>
          </a:prstGeom>
          <a:solidFill>
            <a:srgbClr val="FFFFFF"/>
          </a:solidFill>
          <a:ln>
            <a:solidFill>
              <a:srgbClr val="DC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0704"/>
            <a:ext cx="7178040" cy="5303520"/>
          </a:xfrm>
          <a:prstGeom prst="rect">
            <a:avLst/>
          </a:prstGeom>
          <a:noFill/>
        </p:spPr>
        <p:txBody>
          <a:bodyPr wrap="square">
            <a:spAutoFit/>
          </a:bodyPr>
          <a:lstStyle/>
          <a:p>
            <a:pPr>
              <a:spcAft>
                <a:spcPts val="600"/>
              </a:spcAft>
            </a:pPr>
            <a:r>
              <a:rPr sz="1400" b="1" i="0">
                <a:solidFill>
                  <a:srgbClr val="40A3A3"/>
                </a:solidFill>
                <a:latin typeface="Calibri"/>
              </a:rPr>
              <a:t>So we built AccessWork. A two-sided screen at the desk.</a:t>
            </a:r>
          </a:p>
          <a:p>
            <a:pPr>
              <a:spcAft>
                <a:spcPts val="600"/>
              </a:spcAft>
            </a:pPr>
            <a:r>
              <a:rPr sz="1400" b="1" i="0">
                <a:solidFill>
                  <a:srgbClr val="40A3A3"/>
                </a:solidFill>
                <a:latin typeface="Calibri"/>
              </a:rPr>
              <a:t>The guest talks. The receptionist reads it. Then they answer.</a:t>
            </a:r>
          </a:p>
          <a:p>
            <a:pPr>
              <a:spcAft>
                <a:spcPts val="600"/>
              </a:spcAft>
            </a:pPr>
            <a:r>
              <a:rPr sz="1400" b="1" i="0">
                <a:solidFill>
                  <a:srgbClr val="40A3A3"/>
                </a:solidFill>
                <a:latin typeface="Calibri"/>
              </a:rPr>
              <a:t>One. The guest speaks. Speech becomes text on the employee screen. A 3D avatar signs the message, so the receptionist follows with their eyes.</a:t>
            </a:r>
          </a:p>
          <a:p>
            <a:pPr>
              <a:spcAft>
                <a:spcPts val="600"/>
              </a:spcAft>
            </a:pPr>
            <a:r>
              <a:rPr sz="1400" b="1" i="0">
                <a:solidFill>
                  <a:srgbClr val="40A3A3"/>
                </a:solidFill>
                <a:latin typeface="Calibri"/>
              </a:rPr>
              <a:t>Two. The receptionist replies. They sign to the camera. Or they type. Or they tap a hospitality phrase they already use.</a:t>
            </a:r>
          </a:p>
          <a:p>
            <a:pPr>
              <a:spcAft>
                <a:spcPts val="600"/>
              </a:spcAft>
            </a:pPr>
            <a:r>
              <a:rPr sz="1400" b="1" i="0">
                <a:solidFill>
                  <a:srgbClr val="40A3A3"/>
                </a:solidFill>
                <a:latin typeface="Calibri"/>
              </a:rPr>
              <a:t>Three. The guest hears and reads. Text, plus a voice note they can play again. And when a guest starts talking, the employee screen flashes — so nobody waits in silence.</a:t>
            </a:r>
          </a:p>
          <a:p>
            <a:pPr>
              <a:spcAft>
                <a:spcPts val="600"/>
              </a:spcAft>
            </a:pPr>
            <a:r>
              <a:rPr sz="1400" b="0" i="1">
                <a:solidFill>
                  <a:srgbClr val="46484E"/>
                </a:solidFill>
                <a:latin typeface="Calibri"/>
              </a:rPr>
              <a:t>If you demo:</a:t>
            </a:r>
          </a:p>
          <a:p>
            <a:pPr>
              <a:spcAft>
                <a:spcPts val="600"/>
              </a:spcAft>
            </a:pPr>
            <a:r>
              <a:rPr sz="1400" b="1" i="0">
                <a:solidFill>
                  <a:srgbClr val="40A3A3"/>
                </a:solidFill>
                <a:latin typeface="Calibri"/>
              </a:rPr>
              <a:t>Let me show you.</a:t>
            </a:r>
          </a:p>
          <a:p>
            <a:pPr>
              <a:spcAft>
                <a:spcPts val="600"/>
              </a:spcAft>
            </a:pPr>
            <a:r>
              <a:rPr sz="1400" b="0" i="0">
                <a:solidFill>
                  <a:srgbClr val="46484E"/>
                </a:solidFill>
                <a:latin typeface="Calibri"/>
              </a:rPr>
              <a:t>Then stop talking. Narrate only the beat you are in. Do not apologise. Do not explain the stack.</a:t>
            </a:r>
          </a:p>
        </p:txBody>
      </p:sp>
      <p:sp>
        <p:nvSpPr>
          <p:cNvPr id="7" name="Rounded Rectangle 6"/>
          <p:cNvSpPr/>
          <p:nvPr/>
        </p:nvSpPr>
        <p:spPr>
          <a:xfrm>
            <a:off x="8046720" y="987552"/>
            <a:ext cx="3703320" cy="5440680"/>
          </a:xfrm>
          <a:prstGeom prst="roundRect">
            <a:avLst>
              <a:gd name="adj" fmla="val 6000"/>
            </a:avLst>
          </a:prstGeom>
          <a:solidFill>
            <a:srgbClr val="FFF8E6"/>
          </a:solidFill>
          <a:ln>
            <a:solidFill>
              <a:srgbClr val="E8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11312" y="1078992"/>
            <a:ext cx="3429000" cy="292608"/>
          </a:xfrm>
          <a:prstGeom prst="rect">
            <a:avLst/>
          </a:prstGeom>
          <a:noFill/>
        </p:spPr>
        <p:txBody>
          <a:bodyPr wrap="square">
            <a:spAutoFit/>
          </a:bodyPr>
          <a:lstStyle/>
          <a:p>
            <a:pPr algn="l"/>
            <a:r>
              <a:rPr sz="1200" b="1" i="0">
                <a:solidFill>
                  <a:srgbClr val="6B4706"/>
                </a:solidFill>
                <a:latin typeface="Calibri"/>
              </a:rPr>
              <a:t>ROGER LOVE — voice notes</a:t>
            </a:r>
          </a:p>
        </p:txBody>
      </p:sp>
      <p:sp>
        <p:nvSpPr>
          <p:cNvPr id="9" name="TextBox 8"/>
          <p:cNvSpPr txBox="1"/>
          <p:nvPr/>
        </p:nvSpPr>
        <p:spPr>
          <a:xfrm>
            <a:off x="8211312" y="1371600"/>
            <a:ext cx="3374136" cy="4937760"/>
          </a:xfrm>
          <a:prstGeom prst="rect">
            <a:avLst/>
          </a:prstGeom>
          <a:noFill/>
        </p:spPr>
        <p:txBody>
          <a:bodyPr wrap="square">
            <a:spAutoFit/>
          </a:bodyPr>
          <a:lstStyle/>
          <a:p>
            <a:pPr>
              <a:spcAft>
                <a:spcPts val="600"/>
              </a:spcAft>
            </a:pPr>
            <a:r>
              <a:rPr sz="1200">
                <a:solidFill>
                  <a:srgbClr val="463214"/>
                </a:solidFill>
                <a:latin typeface="Calibri"/>
              </a:rPr>
              <a:t>This is a recipe, not a poem. Short sentences. Number them out loud. The ear loves a list of three.</a:t>
            </a:r>
          </a:p>
          <a:p>
            <a:pPr>
              <a:spcAft>
                <a:spcPts val="600"/>
              </a:spcAft>
            </a:pPr>
            <a:r>
              <a:rPr sz="1200">
                <a:solidFill>
                  <a:srgbClr val="463214"/>
                </a:solidFill>
                <a:latin typeface="Calibri"/>
              </a:rPr>
              <a:t>Pace: slightly faster than the problem slide, still crisp. Consonants: talks, reads, signs, flashes.</a:t>
            </a:r>
          </a:p>
          <a:p>
            <a:pPr>
              <a:spcAft>
                <a:spcPts val="600"/>
              </a:spcAft>
            </a:pPr>
            <a:r>
              <a:rPr sz="1200">
                <a:solidFill>
                  <a:srgbClr val="463214"/>
                </a:solidFill>
                <a:latin typeface="Calibri"/>
              </a:rPr>
              <a:t>Do not say cloud, Whisper, MediaPipe, placeholders, KSL engine. Judges asked how it works for a human, not a GitHub.</a:t>
            </a:r>
          </a:p>
          <a:p>
            <a:pPr>
              <a:spcAft>
                <a:spcPts val="600"/>
              </a:spcAft>
            </a:pPr>
            <a:r>
              <a:rPr sz="1200">
                <a:solidFill>
                  <a:srgbClr val="463214"/>
                </a:solidFill>
                <a:latin typeface="Calibri"/>
              </a:rPr>
              <a:t>Demo rule: your voice drops out. The product is the star. If something stalls, smile, tap a phrase, keep moving. Never narrate a bug.</a:t>
            </a:r>
          </a:p>
          <a:p>
            <a:pPr>
              <a:spcAft>
                <a:spcPts val="600"/>
              </a:spcAft>
            </a:pPr>
            <a:r>
              <a:rPr sz="1200">
                <a:solidFill>
                  <a:srgbClr val="463214"/>
                </a:solidFill>
                <a:latin typeface="Calibri"/>
              </a:rPr>
              <a:t>Hands: left for guest, right for receptionist. The body becomes the diagram.</a:t>
            </a:r>
          </a:p>
        </p:txBody>
      </p:sp>
      <p:sp>
        <p:nvSpPr>
          <p:cNvPr id="10" name="TextBox 9"/>
          <p:cNvSpPr txBox="1"/>
          <p:nvPr/>
        </p:nvSpPr>
        <p:spPr>
          <a:xfrm>
            <a:off x="411480" y="6565392"/>
            <a:ext cx="7772400" cy="219456"/>
          </a:xfrm>
          <a:prstGeom prst="rect">
            <a:avLst/>
          </a:prstGeom>
          <a:noFill/>
        </p:spPr>
        <p:txBody>
          <a:bodyPr wrap="square">
            <a:spAutoFit/>
          </a:bodyPr>
          <a:lstStyle/>
          <a:p>
            <a:pPr algn="l"/>
            <a:r>
              <a:rPr sz="1100" b="0" i="0">
                <a:solidFill>
                  <a:srgbClr val="46484E"/>
                </a:solidFill>
                <a:latin typeface="Calibri"/>
              </a:rPr>
              <a:t>SPEAKER SCRIPT  ·  not for judges  ·  3:40–5:20</a:t>
            </a:r>
          </a:p>
        </p:txBody>
      </p:sp>
      <p:sp>
        <p:nvSpPr>
          <p:cNvPr id="11" name="TextBox 10"/>
          <p:cNvSpPr txBox="1"/>
          <p:nvPr/>
        </p:nvSpPr>
        <p:spPr>
          <a:xfrm>
            <a:off x="10607040" y="6565392"/>
            <a:ext cx="1188720" cy="219456"/>
          </a:xfrm>
          <a:prstGeom prst="rect">
            <a:avLst/>
          </a:prstGeom>
          <a:noFill/>
        </p:spPr>
        <p:txBody>
          <a:bodyPr wrap="square">
            <a:spAutoFit/>
          </a:bodyPr>
          <a:lstStyle/>
          <a:p>
            <a:pPr algn="r"/>
            <a:r>
              <a:rPr sz="1100" b="0" i="0">
                <a:solidFill>
                  <a:srgbClr val="46484E"/>
                </a:solidFill>
                <a:latin typeface="Calibri"/>
              </a:rPr>
              <a:t>4 how it 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6"/>
        </a:solidFill>
        <a:effectLst/>
      </p:bgPr>
    </p:bg>
    <p:spTree>
      <p:nvGrpSpPr>
        <p:cNvPr id="1" name=""/>
        <p:cNvGrpSpPr/>
        <p:nvPr/>
      </p:nvGrpSpPr>
      <p:grpSpPr/>
      <p:pic>
        <p:nvPicPr>
          <p:cNvPr id="2" name="Picture 1" descr="s2_4.png"/>
          <p:cNvPicPr>
            <a:picLocks noChangeAspect="1"/>
          </p:cNvPicPr>
          <p:nvPr/>
        </p:nvPicPr>
        <p:blipFill>
          <a:blip r:embed="rId2"/>
          <a:stretch>
            <a:fillRect/>
          </a:stretch>
        </p:blipFill>
        <p:spPr>
          <a:xfrm>
            <a:off x="411480" y="256032"/>
            <a:ext cx="1005840" cy="82296"/>
          </a:xfrm>
          <a:prstGeom prst="rect">
            <a:avLst/>
          </a:prstGeom>
        </p:spPr>
      </p:pic>
      <p:sp>
        <p:nvSpPr>
          <p:cNvPr id="3" name="TextBox 2"/>
          <p:cNvSpPr txBox="1"/>
          <p:nvPr/>
        </p:nvSpPr>
        <p:spPr>
          <a:xfrm>
            <a:off x="411480" y="347472"/>
            <a:ext cx="11155680" cy="256032"/>
          </a:xfrm>
          <a:prstGeom prst="rect">
            <a:avLst/>
          </a:prstGeom>
          <a:noFill/>
        </p:spPr>
        <p:txBody>
          <a:bodyPr wrap="square">
            <a:spAutoFit/>
          </a:bodyPr>
          <a:lstStyle/>
          <a:p>
            <a:pPr algn="l"/>
            <a:r>
              <a:rPr sz="1300" b="1" i="0">
                <a:solidFill>
                  <a:srgbClr val="40A3A3"/>
                </a:solidFill>
                <a:latin typeface="Calibri"/>
              </a:rPr>
              <a:t>PUBLIC SLIDE 5  ·  5:20–6:20  ·  ~150 words</a:t>
            </a:r>
          </a:p>
        </p:txBody>
      </p:sp>
      <p:sp>
        <p:nvSpPr>
          <p:cNvPr id="4" name="TextBox 3"/>
          <p:cNvSpPr txBox="1"/>
          <p:nvPr/>
        </p:nvSpPr>
        <p:spPr>
          <a:xfrm>
            <a:off x="411480" y="566928"/>
            <a:ext cx="11155680" cy="384048"/>
          </a:xfrm>
          <a:prstGeom prst="rect">
            <a:avLst/>
          </a:prstGeom>
          <a:noFill/>
        </p:spPr>
        <p:txBody>
          <a:bodyPr wrap="square">
            <a:spAutoFit/>
          </a:bodyPr>
          <a:lstStyle/>
          <a:p>
            <a:pPr algn="l"/>
            <a:r>
              <a:rPr sz="2200" b="1" i="0">
                <a:solidFill>
                  <a:srgbClr val="111111"/>
                </a:solidFill>
                <a:latin typeface="Calibri"/>
              </a:rPr>
              <a:t>Land the job. Warm. Practical. No ask.</a:t>
            </a:r>
          </a:p>
        </p:txBody>
      </p:sp>
      <p:sp>
        <p:nvSpPr>
          <p:cNvPr id="5" name="Rounded Rectangle 4"/>
          <p:cNvSpPr/>
          <p:nvPr/>
        </p:nvSpPr>
        <p:spPr>
          <a:xfrm>
            <a:off x="411480" y="1024128"/>
            <a:ext cx="7452360" cy="5394960"/>
          </a:xfrm>
          <a:prstGeom prst="roundRect">
            <a:avLst>
              <a:gd name="adj" fmla="val 4000"/>
            </a:avLst>
          </a:prstGeom>
          <a:solidFill>
            <a:srgbClr val="FFFFFF"/>
          </a:solidFill>
          <a:ln>
            <a:solidFill>
              <a:srgbClr val="DC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115568"/>
            <a:ext cx="7178040" cy="5212080"/>
          </a:xfrm>
          <a:prstGeom prst="rect">
            <a:avLst/>
          </a:prstGeom>
          <a:noFill/>
        </p:spPr>
        <p:txBody>
          <a:bodyPr wrap="square">
            <a:spAutoFit/>
          </a:bodyPr>
          <a:lstStyle/>
          <a:p>
            <a:pPr>
              <a:spcAft>
                <a:spcPts val="700"/>
              </a:spcAft>
            </a:pPr>
            <a:r>
              <a:rPr sz="1500" b="1" i="0">
                <a:solidFill>
                  <a:srgbClr val="40A3A3"/>
                </a:solidFill>
                <a:latin typeface="Calibri"/>
              </a:rPr>
              <a:t>One conversation. Two screens. A job that finally fits.</a:t>
            </a:r>
          </a:p>
          <a:p>
            <a:pPr>
              <a:spcAft>
                <a:spcPts val="700"/>
              </a:spcAft>
            </a:pPr>
            <a:r>
              <a:rPr sz="1500" b="1" i="0">
                <a:solidFill>
                  <a:srgbClr val="40A3A3"/>
                </a:solidFill>
                <a:latin typeface="Calibri"/>
              </a:rPr>
              <a:t>Guest side: speak normally. See the reply. Hear a voice note you can play again.</a:t>
            </a:r>
          </a:p>
          <a:p>
            <a:pPr>
              <a:spcAft>
                <a:spcPts val="700"/>
              </a:spcAft>
            </a:pPr>
            <a:r>
              <a:rPr sz="1500" b="1" i="0">
                <a:solidFill>
                  <a:srgbClr val="40A3A3"/>
                </a:solidFill>
                <a:latin typeface="Calibri"/>
              </a:rPr>
              <a:t>Employee side: read the guest’s words. Watch them signed. Answer in sign, type, or a quick phrase.</a:t>
            </a:r>
          </a:p>
          <a:p>
            <a:pPr>
              <a:spcAft>
                <a:spcPts val="700"/>
              </a:spcAft>
            </a:pPr>
            <a:r>
              <a:rPr sz="1500" b="1" i="0">
                <a:solidFill>
                  <a:srgbClr val="40A3A3"/>
                </a:solidFill>
                <a:latin typeface="Calibri"/>
              </a:rPr>
              <a:t>The hotel: a Deaf receptionist on the front desk. The guest never has to wait for a helper.</a:t>
            </a:r>
          </a:p>
          <a:p>
            <a:pPr>
              <a:spcAft>
                <a:spcPts val="700"/>
              </a:spcAft>
            </a:pPr>
            <a:r>
              <a:rPr sz="1500" b="0" i="1">
                <a:solidFill>
                  <a:srgbClr val="46484E"/>
                </a:solidFill>
                <a:latin typeface="Calibri"/>
              </a:rPr>
              <a:t>Optional, only if you have 15 seconds:</a:t>
            </a:r>
          </a:p>
          <a:p>
            <a:pPr>
              <a:spcAft>
                <a:spcPts val="700"/>
              </a:spcAft>
            </a:pPr>
            <a:r>
              <a:rPr sz="1500" b="1" i="0">
                <a:solidFill>
                  <a:srgbClr val="40A3A3"/>
                </a:solidFill>
                <a:latin typeface="Calibri"/>
              </a:rPr>
              <a:t>This is what inclusive pathways look like when they are not a training certificate that never gets used.</a:t>
            </a:r>
          </a:p>
          <a:p>
            <a:pPr>
              <a:spcAft>
                <a:spcPts val="700"/>
              </a:spcAft>
            </a:pPr>
            <a:r>
              <a:rPr sz="1500" b="0" i="1">
                <a:solidFill>
                  <a:srgbClr val="46484E"/>
                </a:solidFill>
                <a:latin typeface="Calibri"/>
              </a:rPr>
              <a:t>Then go to the last slide. Do not add a funding ask. Do not add a pilot ask.</a:t>
            </a:r>
          </a:p>
        </p:txBody>
      </p:sp>
      <p:sp>
        <p:nvSpPr>
          <p:cNvPr id="7" name="Rounded Rectangle 6"/>
          <p:cNvSpPr/>
          <p:nvPr/>
        </p:nvSpPr>
        <p:spPr>
          <a:xfrm>
            <a:off x="8046720" y="1024128"/>
            <a:ext cx="3703320" cy="5394960"/>
          </a:xfrm>
          <a:prstGeom prst="roundRect">
            <a:avLst>
              <a:gd name="adj" fmla="val 6000"/>
            </a:avLst>
          </a:prstGeom>
          <a:solidFill>
            <a:srgbClr val="FFF8E6"/>
          </a:solidFill>
          <a:ln>
            <a:solidFill>
              <a:srgbClr val="E8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11312" y="1115568"/>
            <a:ext cx="3429000" cy="292608"/>
          </a:xfrm>
          <a:prstGeom prst="rect">
            <a:avLst/>
          </a:prstGeom>
          <a:noFill/>
        </p:spPr>
        <p:txBody>
          <a:bodyPr wrap="square">
            <a:spAutoFit/>
          </a:bodyPr>
          <a:lstStyle/>
          <a:p>
            <a:pPr algn="l"/>
            <a:r>
              <a:rPr sz="1200" b="1" i="0">
                <a:solidFill>
                  <a:srgbClr val="6B4706"/>
                </a:solidFill>
                <a:latin typeface="Calibri"/>
              </a:rPr>
              <a:t>ROGER LOVE — voice notes</a:t>
            </a:r>
          </a:p>
        </p:txBody>
      </p:sp>
      <p:sp>
        <p:nvSpPr>
          <p:cNvPr id="9" name="TextBox 8"/>
          <p:cNvSpPr txBox="1"/>
          <p:nvPr/>
        </p:nvSpPr>
        <p:spPr>
          <a:xfrm>
            <a:off x="8211312" y="1408176"/>
            <a:ext cx="3374136" cy="4892040"/>
          </a:xfrm>
          <a:prstGeom prst="rect">
            <a:avLst/>
          </a:prstGeom>
          <a:noFill/>
        </p:spPr>
        <p:txBody>
          <a:bodyPr wrap="square">
            <a:spAutoFit/>
          </a:bodyPr>
          <a:lstStyle/>
          <a:p>
            <a:pPr>
              <a:spcAft>
                <a:spcPts val="600"/>
              </a:spcAft>
            </a:pPr>
            <a:r>
              <a:rPr sz="1200">
                <a:solidFill>
                  <a:srgbClr val="463214"/>
                </a:solidFill>
                <a:latin typeface="Calibri"/>
              </a:rPr>
              <a:t>Rule of three again: guest / employee / hotel. Same cadence, last one slightly slower.</a:t>
            </a:r>
          </a:p>
          <a:p>
            <a:pPr>
              <a:spcAft>
                <a:spcPts val="600"/>
              </a:spcAft>
            </a:pPr>
            <a:r>
              <a:rPr sz="1200">
                <a:solidFill>
                  <a:srgbClr val="463214"/>
                </a:solidFill>
                <a:latin typeface="Calibri"/>
              </a:rPr>
              <a:t>Warm chest voice. This is the “we already built the table” feeling.</a:t>
            </a:r>
          </a:p>
          <a:p>
            <a:pPr>
              <a:spcAft>
                <a:spcPts val="600"/>
              </a:spcAft>
            </a:pPr>
            <a:r>
              <a:rPr sz="1200">
                <a:solidFill>
                  <a:srgbClr val="463214"/>
                </a:solidFill>
                <a:latin typeface="Calibri"/>
              </a:rPr>
              <a:t>Punch “never” in “never has to wait”. Tiny shake of the head. Then still.</a:t>
            </a:r>
          </a:p>
          <a:p>
            <a:pPr>
              <a:spcAft>
                <a:spcPts val="600"/>
              </a:spcAft>
            </a:pPr>
            <a:r>
              <a:rPr sz="1200">
                <a:solidFill>
                  <a:srgbClr val="463214"/>
                </a:solidFill>
                <a:latin typeface="Calibri"/>
              </a:rPr>
              <a:t>If you are over time, cut the optional sentence. If you are under, tell one 10-second picture: a check-in at 7pm, a name, a key.</a:t>
            </a:r>
          </a:p>
          <a:p>
            <a:pPr>
              <a:spcAft>
                <a:spcPts val="600"/>
              </a:spcAft>
            </a:pPr>
            <a:r>
              <a:rPr sz="1200">
                <a:solidFill>
                  <a:srgbClr val="463214"/>
                </a:solidFill>
                <a:latin typeface="Calibri"/>
              </a:rPr>
              <a:t>Do not introduce new features here. You already explained the machine.</a:t>
            </a:r>
          </a:p>
        </p:txBody>
      </p:sp>
      <p:sp>
        <p:nvSpPr>
          <p:cNvPr id="10" name="TextBox 9"/>
          <p:cNvSpPr txBox="1"/>
          <p:nvPr/>
        </p:nvSpPr>
        <p:spPr>
          <a:xfrm>
            <a:off x="411480" y="6565392"/>
            <a:ext cx="7772400" cy="219456"/>
          </a:xfrm>
          <a:prstGeom prst="rect">
            <a:avLst/>
          </a:prstGeom>
          <a:noFill/>
        </p:spPr>
        <p:txBody>
          <a:bodyPr wrap="square">
            <a:spAutoFit/>
          </a:bodyPr>
          <a:lstStyle/>
          <a:p>
            <a:pPr algn="l"/>
            <a:r>
              <a:rPr sz="1100" b="0" i="0">
                <a:solidFill>
                  <a:srgbClr val="46484E"/>
                </a:solidFill>
                <a:latin typeface="Calibri"/>
              </a:rPr>
              <a:t>SPEAKER SCRIPT  ·  not for judges  ·  5:20–6:20</a:t>
            </a:r>
          </a:p>
        </p:txBody>
      </p:sp>
      <p:sp>
        <p:nvSpPr>
          <p:cNvPr id="11" name="TextBox 10"/>
          <p:cNvSpPr txBox="1"/>
          <p:nvPr/>
        </p:nvSpPr>
        <p:spPr>
          <a:xfrm>
            <a:off x="10607040" y="6565392"/>
            <a:ext cx="1188720" cy="219456"/>
          </a:xfrm>
          <a:prstGeom prst="rect">
            <a:avLst/>
          </a:prstGeom>
          <a:noFill/>
        </p:spPr>
        <p:txBody>
          <a:bodyPr wrap="square">
            <a:spAutoFit/>
          </a:bodyPr>
          <a:lstStyle/>
          <a:p>
            <a:pPr algn="r"/>
            <a:r>
              <a:rPr sz="1100" b="0" i="0">
                <a:solidFill>
                  <a:srgbClr val="46484E"/>
                </a:solidFill>
                <a:latin typeface="Calibri"/>
              </a:rPr>
              <a:t>5 two screens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6"/>
        </a:solidFill>
        <a:effectLst/>
      </p:bgPr>
    </p:bg>
    <p:spTree>
      <p:nvGrpSpPr>
        <p:cNvPr id="1" name=""/>
        <p:cNvGrpSpPr/>
        <p:nvPr/>
      </p:nvGrpSpPr>
      <p:grpSpPr/>
      <p:pic>
        <p:nvPicPr>
          <p:cNvPr id="2" name="Picture 1" descr="s1_1.png"/>
          <p:cNvPicPr>
            <a:picLocks noChangeAspect="1"/>
          </p:cNvPicPr>
          <p:nvPr/>
        </p:nvPicPr>
        <p:blipFill>
          <a:blip r:embed="rId2"/>
          <a:stretch>
            <a:fillRect/>
          </a:stretch>
        </p:blipFill>
        <p:spPr>
          <a:xfrm>
            <a:off x="7680960" y="0"/>
            <a:ext cx="6341364" cy="6858000"/>
          </a:xfrm>
          <a:prstGeom prst="rect">
            <a:avLst/>
          </a:prstGeom>
        </p:spPr>
      </p:pic>
      <p:pic>
        <p:nvPicPr>
          <p:cNvPr id="3" name="Picture 2" descr="s2_4.png"/>
          <p:cNvPicPr>
            <a:picLocks noChangeAspect="1"/>
          </p:cNvPicPr>
          <p:nvPr/>
        </p:nvPicPr>
        <p:blipFill>
          <a:blip r:embed="rId3"/>
          <a:stretch>
            <a:fillRect/>
          </a:stretch>
        </p:blipFill>
        <p:spPr>
          <a:xfrm>
            <a:off x="411480" y="256032"/>
            <a:ext cx="1005840" cy="82296"/>
          </a:xfrm>
          <a:prstGeom prst="rect">
            <a:avLst/>
          </a:prstGeom>
        </p:spPr>
      </p:pic>
      <p:sp>
        <p:nvSpPr>
          <p:cNvPr id="4" name="TextBox 3"/>
          <p:cNvSpPr txBox="1"/>
          <p:nvPr/>
        </p:nvSpPr>
        <p:spPr>
          <a:xfrm>
            <a:off x="411480" y="384048"/>
            <a:ext cx="7315200" cy="256032"/>
          </a:xfrm>
          <a:prstGeom prst="rect">
            <a:avLst/>
          </a:prstGeom>
          <a:noFill/>
        </p:spPr>
        <p:txBody>
          <a:bodyPr wrap="square">
            <a:spAutoFit/>
          </a:bodyPr>
          <a:lstStyle/>
          <a:p>
            <a:pPr algn="l"/>
            <a:r>
              <a:rPr sz="1300" b="1" i="0">
                <a:solidFill>
                  <a:srgbClr val="40A3A3"/>
                </a:solidFill>
                <a:latin typeface="Calibri"/>
              </a:rPr>
              <a:t>LAST SLIDE  ·  6:20–7:00  ·  ~80 words</a:t>
            </a:r>
          </a:p>
        </p:txBody>
      </p:sp>
      <p:sp>
        <p:nvSpPr>
          <p:cNvPr id="5" name="TextBox 4"/>
          <p:cNvSpPr txBox="1"/>
          <p:nvPr/>
        </p:nvSpPr>
        <p:spPr>
          <a:xfrm>
            <a:off x="411480" y="658368"/>
            <a:ext cx="7223760" cy="640080"/>
          </a:xfrm>
          <a:prstGeom prst="rect">
            <a:avLst/>
          </a:prstGeom>
          <a:noFill/>
        </p:spPr>
        <p:txBody>
          <a:bodyPr wrap="square">
            <a:spAutoFit/>
          </a:bodyPr>
          <a:lstStyle/>
          <a:p>
            <a:pPr algn="l"/>
            <a:r>
              <a:rPr sz="2200" b="1" i="0">
                <a:solidFill>
                  <a:srgbClr val="111111"/>
                </a:solidFill>
                <a:latin typeface="Calibri"/>
              </a:rPr>
              <a:t>Slow down. The last line is what they keep.</a:t>
            </a:r>
          </a:p>
        </p:txBody>
      </p:sp>
      <p:sp>
        <p:nvSpPr>
          <p:cNvPr id="6" name="Rounded Rectangle 5"/>
          <p:cNvSpPr/>
          <p:nvPr/>
        </p:nvSpPr>
        <p:spPr>
          <a:xfrm>
            <a:off x="411480" y="1371600"/>
            <a:ext cx="7040880" cy="2880360"/>
          </a:xfrm>
          <a:prstGeom prst="roundRect">
            <a:avLst>
              <a:gd name="adj" fmla="val 4000"/>
            </a:avLst>
          </a:prstGeom>
          <a:solidFill>
            <a:srgbClr val="FFFFFF"/>
          </a:solidFill>
          <a:ln>
            <a:solidFill>
              <a:srgbClr val="DC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81328"/>
            <a:ext cx="6720840" cy="2697480"/>
          </a:xfrm>
          <a:prstGeom prst="rect">
            <a:avLst/>
          </a:prstGeom>
          <a:noFill/>
        </p:spPr>
        <p:txBody>
          <a:bodyPr wrap="square">
            <a:spAutoFit/>
          </a:bodyPr>
          <a:lstStyle/>
          <a:p>
            <a:pPr>
              <a:spcAft>
                <a:spcPts val="600"/>
              </a:spcAft>
            </a:pPr>
            <a:r>
              <a:rPr sz="1500" b="0" i="1">
                <a:solidFill>
                  <a:srgbClr val="46484E"/>
                </a:solidFill>
                <a:latin typeface="Calibri"/>
              </a:rPr>
              <a:t>Stand still. Hands empty.</a:t>
            </a:r>
          </a:p>
          <a:p>
            <a:pPr>
              <a:spcAft>
                <a:spcPts val="600"/>
              </a:spcAft>
            </a:pPr>
            <a:r>
              <a:rPr sz="1500" b="1" i="0">
                <a:solidFill>
                  <a:srgbClr val="40A3A3"/>
                </a:solidFill>
                <a:latin typeface="Calibri"/>
              </a:rPr>
              <a:t>Inclusive pathways start at the front desk.</a:t>
            </a:r>
          </a:p>
          <a:p>
            <a:pPr>
              <a:spcAft>
                <a:spcPts val="600"/>
              </a:spcAft>
            </a:pPr>
            <a:r>
              <a:rPr sz="1500" b="0" i="1">
                <a:solidFill>
                  <a:srgbClr val="46484E"/>
                </a:solidFill>
                <a:latin typeface="Calibri"/>
              </a:rPr>
              <a:t>Three fragments, like bells:</a:t>
            </a:r>
          </a:p>
          <a:p>
            <a:pPr>
              <a:spcAft>
                <a:spcPts val="600"/>
              </a:spcAft>
            </a:pPr>
            <a:r>
              <a:rPr sz="1500" b="1" i="0">
                <a:solidFill>
                  <a:srgbClr val="40A3A3"/>
                </a:solidFill>
                <a:latin typeface="Calibri"/>
              </a:rPr>
              <a:t>A Deaf receptionist. A hearing guest. A conversation that does not need a third person.</a:t>
            </a:r>
          </a:p>
          <a:p>
            <a:pPr>
              <a:spcAft>
                <a:spcPts val="600"/>
              </a:spcAft>
            </a:pPr>
            <a:r>
              <a:rPr sz="1500" b="0" i="1">
                <a:solidFill>
                  <a:srgbClr val="46484E"/>
                </a:solidFill>
                <a:latin typeface="Calibri"/>
              </a:rPr>
              <a:t>Look up.</a:t>
            </a:r>
          </a:p>
          <a:p>
            <a:pPr>
              <a:spcAft>
                <a:spcPts val="600"/>
              </a:spcAft>
            </a:pPr>
            <a:r>
              <a:rPr sz="1500" b="1" i="0">
                <a:solidFill>
                  <a:srgbClr val="40A3A3"/>
                </a:solidFill>
                <a:latin typeface="Calibri"/>
              </a:rPr>
              <a:t>Thank you.</a:t>
            </a:r>
          </a:p>
          <a:p>
            <a:pPr>
              <a:spcAft>
                <a:spcPts val="600"/>
              </a:spcAft>
            </a:pPr>
            <a:r>
              <a:rPr sz="1500" b="0" i="1">
                <a:solidFill>
                  <a:srgbClr val="46484E"/>
                </a:solidFill>
                <a:latin typeface="Calibri"/>
              </a:rPr>
              <a:t>Do not add a sentence. Do not say “any questions” until they clap or the chair invites Q&amp;A.</a:t>
            </a:r>
          </a:p>
        </p:txBody>
      </p:sp>
      <p:sp>
        <p:nvSpPr>
          <p:cNvPr id="8" name="Rounded Rectangle 7"/>
          <p:cNvSpPr/>
          <p:nvPr/>
        </p:nvSpPr>
        <p:spPr>
          <a:xfrm>
            <a:off x="411480" y="4389120"/>
            <a:ext cx="7040880" cy="2011680"/>
          </a:xfrm>
          <a:prstGeom prst="roundRect">
            <a:avLst>
              <a:gd name="adj" fmla="val 6000"/>
            </a:avLst>
          </a:prstGeom>
          <a:solidFill>
            <a:srgbClr val="FFF8E6"/>
          </a:solidFill>
          <a:ln>
            <a:solidFill>
              <a:srgbClr val="E8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4480560"/>
            <a:ext cx="6766560" cy="292608"/>
          </a:xfrm>
          <a:prstGeom prst="rect">
            <a:avLst/>
          </a:prstGeom>
          <a:noFill/>
        </p:spPr>
        <p:txBody>
          <a:bodyPr wrap="square">
            <a:spAutoFit/>
          </a:bodyPr>
          <a:lstStyle/>
          <a:p>
            <a:pPr algn="l"/>
            <a:r>
              <a:rPr sz="1200" b="1" i="0">
                <a:solidFill>
                  <a:srgbClr val="6B4706"/>
                </a:solidFill>
                <a:latin typeface="Calibri"/>
              </a:rPr>
              <a:t>ROGER LOVE — voice notes</a:t>
            </a:r>
          </a:p>
        </p:txBody>
      </p:sp>
      <p:sp>
        <p:nvSpPr>
          <p:cNvPr id="10" name="TextBox 9"/>
          <p:cNvSpPr txBox="1"/>
          <p:nvPr/>
        </p:nvSpPr>
        <p:spPr>
          <a:xfrm>
            <a:off x="576072" y="4773168"/>
            <a:ext cx="6711696" cy="1508760"/>
          </a:xfrm>
          <a:prstGeom prst="rect">
            <a:avLst/>
          </a:prstGeom>
          <a:noFill/>
        </p:spPr>
        <p:txBody>
          <a:bodyPr wrap="square">
            <a:spAutoFit/>
          </a:bodyPr>
          <a:lstStyle/>
          <a:p>
            <a:pPr>
              <a:spcAft>
                <a:spcPts val="600"/>
              </a:spcAft>
            </a:pPr>
            <a:r>
              <a:rPr sz="1200">
                <a:solidFill>
                  <a:srgbClr val="463214"/>
                </a:solidFill>
                <a:latin typeface="Calibri"/>
              </a:rPr>
              <a:t>Volume: drop to 5 on the three fragments, then 8 on “does not need a third person”. That rise is the close.</a:t>
            </a:r>
          </a:p>
          <a:p>
            <a:pPr>
              <a:spcAft>
                <a:spcPts val="600"/>
              </a:spcAft>
            </a:pPr>
            <a:r>
              <a:rPr sz="1200">
                <a:solidFill>
                  <a:srgbClr val="463214"/>
                </a:solidFill>
                <a:latin typeface="Calibri"/>
              </a:rPr>
              <a:t>Last word “person” gets a full stop in the body. Freeze one second. Then “Thank you” on a smile, mid pitch, not a fade.</a:t>
            </a:r>
          </a:p>
          <a:p>
            <a:pPr>
              <a:spcAft>
                <a:spcPts val="600"/>
              </a:spcAft>
            </a:pPr>
            <a:r>
              <a:rPr sz="1200">
                <a:solidFill>
                  <a:srgbClr val="463214"/>
                </a:solidFill>
                <a:latin typeface="Calibri"/>
              </a:rPr>
              <a:t>Trailing off is how pitches die. End like a song with a last chord, not like a sentence you got tired of.</a:t>
            </a:r>
          </a:p>
        </p:txBody>
      </p:sp>
      <p:sp>
        <p:nvSpPr>
          <p:cNvPr id="11" name="TextBox 10"/>
          <p:cNvSpPr txBox="1"/>
          <p:nvPr/>
        </p:nvSpPr>
        <p:spPr>
          <a:xfrm>
            <a:off x="411480" y="6565392"/>
            <a:ext cx="7772400" cy="219456"/>
          </a:xfrm>
          <a:prstGeom prst="rect">
            <a:avLst/>
          </a:prstGeom>
          <a:noFill/>
        </p:spPr>
        <p:txBody>
          <a:bodyPr wrap="square">
            <a:spAutoFit/>
          </a:bodyPr>
          <a:lstStyle/>
          <a:p>
            <a:pPr algn="l"/>
            <a:r>
              <a:rPr sz="1100" b="0" i="0">
                <a:solidFill>
                  <a:srgbClr val="46484E"/>
                </a:solidFill>
                <a:latin typeface="Calibri"/>
              </a:rPr>
              <a:t>SPEAKER SCRIPT  ·  not for judges  ·  6:20–7:00</a:t>
            </a:r>
          </a:p>
        </p:txBody>
      </p:sp>
      <p:sp>
        <p:nvSpPr>
          <p:cNvPr id="12" name="TextBox 11"/>
          <p:cNvSpPr txBox="1"/>
          <p:nvPr/>
        </p:nvSpPr>
        <p:spPr>
          <a:xfrm>
            <a:off x="10607040" y="6565392"/>
            <a:ext cx="1188720" cy="219456"/>
          </a:xfrm>
          <a:prstGeom prst="rect">
            <a:avLst/>
          </a:prstGeom>
          <a:noFill/>
        </p:spPr>
        <p:txBody>
          <a:bodyPr wrap="square">
            <a:spAutoFit/>
          </a:bodyPr>
          <a:lstStyle/>
          <a:p>
            <a:pPr algn="r"/>
            <a:r>
              <a:rPr sz="1100" b="0" i="0">
                <a:solidFill>
                  <a:srgbClr val="46484E"/>
                </a:solidFill>
                <a:latin typeface="Calibri"/>
              </a:rPr>
              <a:t>close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6"/>
        </a:solidFill>
        <a:effectLst/>
      </p:bgPr>
    </p:bg>
    <p:spTree>
      <p:nvGrpSpPr>
        <p:cNvPr id="1" name=""/>
        <p:cNvGrpSpPr/>
        <p:nvPr/>
      </p:nvGrpSpPr>
      <p:grpSpPr/>
      <p:pic>
        <p:nvPicPr>
          <p:cNvPr id="2" name="Picture 1" descr="s2_4.png"/>
          <p:cNvPicPr>
            <a:picLocks noChangeAspect="1"/>
          </p:cNvPicPr>
          <p:nvPr/>
        </p:nvPicPr>
        <p:blipFill>
          <a:blip r:embed="rId2"/>
          <a:stretch>
            <a:fillRect/>
          </a:stretch>
        </p:blipFill>
        <p:spPr>
          <a:xfrm>
            <a:off x="411480" y="256032"/>
            <a:ext cx="1005840" cy="82296"/>
          </a:xfrm>
          <a:prstGeom prst="rect">
            <a:avLst/>
          </a:prstGeom>
        </p:spPr>
      </p:pic>
      <p:sp>
        <p:nvSpPr>
          <p:cNvPr id="3" name="TextBox 2"/>
          <p:cNvSpPr txBox="1"/>
          <p:nvPr/>
        </p:nvSpPr>
        <p:spPr>
          <a:xfrm>
            <a:off x="411480" y="384048"/>
            <a:ext cx="11155680" cy="411480"/>
          </a:xfrm>
          <a:prstGeom prst="rect">
            <a:avLst/>
          </a:prstGeom>
          <a:noFill/>
        </p:spPr>
        <p:txBody>
          <a:bodyPr wrap="square">
            <a:spAutoFit/>
          </a:bodyPr>
          <a:lstStyle/>
          <a:p>
            <a:pPr algn="l"/>
            <a:r>
              <a:rPr sz="2800" b="1" i="0">
                <a:solidFill>
                  <a:srgbClr val="111111"/>
                </a:solidFill>
                <a:latin typeface="Calibri"/>
              </a:rPr>
              <a:t>Seven-minute run sheet</a:t>
            </a:r>
          </a:p>
        </p:txBody>
      </p:sp>
      <p:sp>
        <p:nvSpPr>
          <p:cNvPr id="4" name="TextBox 3"/>
          <p:cNvSpPr txBox="1"/>
          <p:nvPr/>
        </p:nvSpPr>
        <p:spPr>
          <a:xfrm>
            <a:off x="411480" y="960120"/>
            <a:ext cx="1005840" cy="274320"/>
          </a:xfrm>
          <a:prstGeom prst="rect">
            <a:avLst/>
          </a:prstGeom>
          <a:noFill/>
        </p:spPr>
        <p:txBody>
          <a:bodyPr wrap="square">
            <a:spAutoFit/>
          </a:bodyPr>
          <a:lstStyle/>
          <a:p>
            <a:pPr algn="l"/>
            <a:r>
              <a:rPr sz="1200" b="1" i="0">
                <a:solidFill>
                  <a:srgbClr val="40A3A3"/>
                </a:solidFill>
                <a:latin typeface="Calibri"/>
              </a:rPr>
              <a:t>Clock</a:t>
            </a:r>
          </a:p>
        </p:txBody>
      </p:sp>
      <p:sp>
        <p:nvSpPr>
          <p:cNvPr id="5" name="TextBox 4"/>
          <p:cNvSpPr txBox="1"/>
          <p:nvPr/>
        </p:nvSpPr>
        <p:spPr>
          <a:xfrm>
            <a:off x="1417320" y="960120"/>
            <a:ext cx="640080" cy="274320"/>
          </a:xfrm>
          <a:prstGeom prst="rect">
            <a:avLst/>
          </a:prstGeom>
          <a:noFill/>
        </p:spPr>
        <p:txBody>
          <a:bodyPr wrap="square">
            <a:spAutoFit/>
          </a:bodyPr>
          <a:lstStyle/>
          <a:p>
            <a:pPr algn="l"/>
            <a:r>
              <a:rPr sz="1200" b="1" i="0">
                <a:solidFill>
                  <a:srgbClr val="40A3A3"/>
                </a:solidFill>
                <a:latin typeface="Calibri"/>
              </a:rPr>
              <a:t>To</a:t>
            </a:r>
          </a:p>
        </p:txBody>
      </p:sp>
      <p:sp>
        <p:nvSpPr>
          <p:cNvPr id="6" name="TextBox 5"/>
          <p:cNvSpPr txBox="1"/>
          <p:nvPr/>
        </p:nvSpPr>
        <p:spPr>
          <a:xfrm>
            <a:off x="2103120" y="960120"/>
            <a:ext cx="1645920" cy="274320"/>
          </a:xfrm>
          <a:prstGeom prst="rect">
            <a:avLst/>
          </a:prstGeom>
          <a:noFill/>
        </p:spPr>
        <p:txBody>
          <a:bodyPr wrap="square">
            <a:spAutoFit/>
          </a:bodyPr>
          <a:lstStyle/>
          <a:p>
            <a:pPr algn="l"/>
            <a:r>
              <a:rPr sz="1200" b="1" i="0">
                <a:solidFill>
                  <a:srgbClr val="40A3A3"/>
                </a:solidFill>
                <a:latin typeface="Calibri"/>
              </a:rPr>
              <a:t>Slide</a:t>
            </a:r>
          </a:p>
        </p:txBody>
      </p:sp>
      <p:sp>
        <p:nvSpPr>
          <p:cNvPr id="7" name="TextBox 6"/>
          <p:cNvSpPr txBox="1"/>
          <p:nvPr/>
        </p:nvSpPr>
        <p:spPr>
          <a:xfrm>
            <a:off x="3840480" y="960120"/>
            <a:ext cx="6035040" cy="274320"/>
          </a:xfrm>
          <a:prstGeom prst="rect">
            <a:avLst/>
          </a:prstGeom>
          <a:noFill/>
        </p:spPr>
        <p:txBody>
          <a:bodyPr wrap="square">
            <a:spAutoFit/>
          </a:bodyPr>
          <a:lstStyle/>
          <a:p>
            <a:pPr algn="l"/>
            <a:r>
              <a:rPr sz="1200" b="1" i="0">
                <a:solidFill>
                  <a:srgbClr val="40A3A3"/>
                </a:solidFill>
                <a:latin typeface="Calibri"/>
              </a:rPr>
              <a:t>You do</a:t>
            </a:r>
          </a:p>
        </p:txBody>
      </p:sp>
      <p:sp>
        <p:nvSpPr>
          <p:cNvPr id="8" name="TextBox 7"/>
          <p:cNvSpPr txBox="1"/>
          <p:nvPr/>
        </p:nvSpPr>
        <p:spPr>
          <a:xfrm>
            <a:off x="10058400" y="960120"/>
            <a:ext cx="1645920" cy="274320"/>
          </a:xfrm>
          <a:prstGeom prst="rect">
            <a:avLst/>
          </a:prstGeom>
          <a:noFill/>
        </p:spPr>
        <p:txBody>
          <a:bodyPr wrap="square">
            <a:spAutoFit/>
          </a:bodyPr>
          <a:lstStyle/>
          <a:p>
            <a:pPr algn="l"/>
            <a:r>
              <a:rPr sz="1200" b="1" i="0">
                <a:solidFill>
                  <a:srgbClr val="40A3A3"/>
                </a:solidFill>
                <a:latin typeface="Calibri"/>
              </a:rPr>
              <a:t>Energy</a:t>
            </a:r>
          </a:p>
        </p:txBody>
      </p:sp>
      <p:sp>
        <p:nvSpPr>
          <p:cNvPr id="9" name="TextBox 8"/>
          <p:cNvSpPr txBox="1"/>
          <p:nvPr/>
        </p:nvSpPr>
        <p:spPr>
          <a:xfrm>
            <a:off x="411480" y="1280160"/>
            <a:ext cx="1005840" cy="384048"/>
          </a:xfrm>
          <a:prstGeom prst="rect">
            <a:avLst/>
          </a:prstGeom>
          <a:noFill/>
        </p:spPr>
        <p:txBody>
          <a:bodyPr wrap="square">
            <a:spAutoFit/>
          </a:bodyPr>
          <a:lstStyle/>
          <a:p>
            <a:pPr algn="l"/>
            <a:r>
              <a:rPr sz="1400" b="1" i="0">
                <a:solidFill>
                  <a:srgbClr val="111111"/>
                </a:solidFill>
                <a:latin typeface="Calibri"/>
              </a:rPr>
              <a:t>0:00</a:t>
            </a:r>
          </a:p>
        </p:txBody>
      </p:sp>
      <p:sp>
        <p:nvSpPr>
          <p:cNvPr id="10" name="TextBox 9"/>
          <p:cNvSpPr txBox="1"/>
          <p:nvPr/>
        </p:nvSpPr>
        <p:spPr>
          <a:xfrm>
            <a:off x="1417320" y="1280160"/>
            <a:ext cx="640080" cy="384048"/>
          </a:xfrm>
          <a:prstGeom prst="rect">
            <a:avLst/>
          </a:prstGeom>
          <a:noFill/>
        </p:spPr>
        <p:txBody>
          <a:bodyPr wrap="square">
            <a:spAutoFit/>
          </a:bodyPr>
          <a:lstStyle/>
          <a:p>
            <a:pPr algn="l"/>
            <a:r>
              <a:rPr sz="1400" b="0" i="0">
                <a:solidFill>
                  <a:srgbClr val="46484E"/>
                </a:solidFill>
                <a:latin typeface="Calibri"/>
              </a:rPr>
              <a:t>0:20</a:t>
            </a:r>
          </a:p>
        </p:txBody>
      </p:sp>
      <p:sp>
        <p:nvSpPr>
          <p:cNvPr id="11" name="TextBox 10"/>
          <p:cNvSpPr txBox="1"/>
          <p:nvPr/>
        </p:nvSpPr>
        <p:spPr>
          <a:xfrm>
            <a:off x="2103120" y="1280160"/>
            <a:ext cx="1645920" cy="384048"/>
          </a:xfrm>
          <a:prstGeom prst="rect">
            <a:avLst/>
          </a:prstGeom>
          <a:noFill/>
        </p:spPr>
        <p:txBody>
          <a:bodyPr wrap="square">
            <a:spAutoFit/>
          </a:bodyPr>
          <a:lstStyle/>
          <a:p>
            <a:pPr algn="l"/>
            <a:r>
              <a:rPr sz="1400" b="1" i="0">
                <a:solidFill>
                  <a:srgbClr val="111111"/>
                </a:solidFill>
                <a:latin typeface="Calibri"/>
              </a:rPr>
              <a:t>Cover</a:t>
            </a:r>
          </a:p>
        </p:txBody>
      </p:sp>
      <p:sp>
        <p:nvSpPr>
          <p:cNvPr id="12" name="TextBox 11"/>
          <p:cNvSpPr txBox="1"/>
          <p:nvPr/>
        </p:nvSpPr>
        <p:spPr>
          <a:xfrm>
            <a:off x="3840480" y="1280160"/>
            <a:ext cx="6035040" cy="384048"/>
          </a:xfrm>
          <a:prstGeom prst="rect">
            <a:avLst/>
          </a:prstGeom>
          <a:noFill/>
        </p:spPr>
        <p:txBody>
          <a:bodyPr wrap="square">
            <a:spAutoFit/>
          </a:bodyPr>
          <a:lstStyle/>
          <a:p>
            <a:pPr algn="l"/>
            <a:r>
              <a:rPr sz="1400" b="0" i="0">
                <a:solidFill>
                  <a:srgbClr val="111111"/>
                </a:solidFill>
                <a:latin typeface="Calibri"/>
              </a:rPr>
              <a:t>Stand. Name. One sentence. Click.</a:t>
            </a:r>
          </a:p>
        </p:txBody>
      </p:sp>
      <p:sp>
        <p:nvSpPr>
          <p:cNvPr id="13" name="TextBox 12"/>
          <p:cNvSpPr txBox="1"/>
          <p:nvPr/>
        </p:nvSpPr>
        <p:spPr>
          <a:xfrm>
            <a:off x="10058400" y="1280160"/>
            <a:ext cx="1645920" cy="384048"/>
          </a:xfrm>
          <a:prstGeom prst="rect">
            <a:avLst/>
          </a:prstGeom>
          <a:noFill/>
        </p:spPr>
        <p:txBody>
          <a:bodyPr wrap="square">
            <a:spAutoFit/>
          </a:bodyPr>
          <a:lstStyle/>
          <a:p>
            <a:pPr algn="l"/>
            <a:r>
              <a:rPr sz="1400" b="0" i="0">
                <a:solidFill>
                  <a:srgbClr val="40A3A3"/>
                </a:solidFill>
                <a:latin typeface="Calibri"/>
              </a:rPr>
              <a:t>6</a:t>
            </a:r>
          </a:p>
        </p:txBody>
      </p:sp>
      <p:sp>
        <p:nvSpPr>
          <p:cNvPr id="14" name="TextBox 13"/>
          <p:cNvSpPr txBox="1"/>
          <p:nvPr/>
        </p:nvSpPr>
        <p:spPr>
          <a:xfrm>
            <a:off x="411480" y="1719072"/>
            <a:ext cx="1005840" cy="384048"/>
          </a:xfrm>
          <a:prstGeom prst="rect">
            <a:avLst/>
          </a:prstGeom>
          <a:noFill/>
        </p:spPr>
        <p:txBody>
          <a:bodyPr wrap="square">
            <a:spAutoFit/>
          </a:bodyPr>
          <a:lstStyle/>
          <a:p>
            <a:pPr algn="l"/>
            <a:r>
              <a:rPr sz="1400" b="1" i="0">
                <a:solidFill>
                  <a:srgbClr val="111111"/>
                </a:solidFill>
                <a:latin typeface="Calibri"/>
              </a:rPr>
              <a:t>0:20</a:t>
            </a:r>
          </a:p>
        </p:txBody>
      </p:sp>
      <p:sp>
        <p:nvSpPr>
          <p:cNvPr id="15" name="TextBox 14"/>
          <p:cNvSpPr txBox="1"/>
          <p:nvPr/>
        </p:nvSpPr>
        <p:spPr>
          <a:xfrm>
            <a:off x="1417320" y="1719072"/>
            <a:ext cx="640080" cy="384048"/>
          </a:xfrm>
          <a:prstGeom prst="rect">
            <a:avLst/>
          </a:prstGeom>
          <a:noFill/>
        </p:spPr>
        <p:txBody>
          <a:bodyPr wrap="square">
            <a:spAutoFit/>
          </a:bodyPr>
          <a:lstStyle/>
          <a:p>
            <a:pPr algn="l"/>
            <a:r>
              <a:rPr sz="1400" b="0" i="0">
                <a:solidFill>
                  <a:srgbClr val="46484E"/>
                </a:solidFill>
                <a:latin typeface="Calibri"/>
              </a:rPr>
              <a:t>1:30</a:t>
            </a:r>
          </a:p>
        </p:txBody>
      </p:sp>
      <p:sp>
        <p:nvSpPr>
          <p:cNvPr id="16" name="TextBox 15"/>
          <p:cNvSpPr txBox="1"/>
          <p:nvPr/>
        </p:nvSpPr>
        <p:spPr>
          <a:xfrm>
            <a:off x="2103120" y="1719072"/>
            <a:ext cx="1645920" cy="384048"/>
          </a:xfrm>
          <a:prstGeom prst="rect">
            <a:avLst/>
          </a:prstGeom>
          <a:noFill/>
        </p:spPr>
        <p:txBody>
          <a:bodyPr wrap="square">
            <a:spAutoFit/>
          </a:bodyPr>
          <a:lstStyle/>
          <a:p>
            <a:pPr algn="l"/>
            <a:r>
              <a:rPr sz="1400" b="1" i="0">
                <a:solidFill>
                  <a:srgbClr val="111111"/>
                </a:solidFill>
                <a:latin typeface="Calibri"/>
              </a:rPr>
              <a:t>Questions</a:t>
            </a:r>
          </a:p>
        </p:txBody>
      </p:sp>
      <p:sp>
        <p:nvSpPr>
          <p:cNvPr id="17" name="TextBox 16"/>
          <p:cNvSpPr txBox="1"/>
          <p:nvPr/>
        </p:nvSpPr>
        <p:spPr>
          <a:xfrm>
            <a:off x="3840480" y="1719072"/>
            <a:ext cx="6035040" cy="384048"/>
          </a:xfrm>
          <a:prstGeom prst="rect">
            <a:avLst/>
          </a:prstGeom>
          <a:noFill/>
        </p:spPr>
        <p:txBody>
          <a:bodyPr wrap="square">
            <a:spAutoFit/>
          </a:bodyPr>
          <a:lstStyle/>
          <a:p>
            <a:pPr algn="l"/>
            <a:r>
              <a:rPr sz="1400" b="0" i="0">
                <a:solidFill>
                  <a:srgbClr val="111111"/>
                </a:solidFill>
                <a:latin typeface="Calibri"/>
              </a:rPr>
              <a:t>School → future → the hire thought. Two pauses.</a:t>
            </a:r>
          </a:p>
        </p:txBody>
      </p:sp>
      <p:sp>
        <p:nvSpPr>
          <p:cNvPr id="18" name="TextBox 17"/>
          <p:cNvSpPr txBox="1"/>
          <p:nvPr/>
        </p:nvSpPr>
        <p:spPr>
          <a:xfrm>
            <a:off x="10058400" y="1719072"/>
            <a:ext cx="1645920" cy="384048"/>
          </a:xfrm>
          <a:prstGeom prst="rect">
            <a:avLst/>
          </a:prstGeom>
          <a:noFill/>
        </p:spPr>
        <p:txBody>
          <a:bodyPr wrap="square">
            <a:spAutoFit/>
          </a:bodyPr>
          <a:lstStyle/>
          <a:p>
            <a:pPr algn="l"/>
            <a:r>
              <a:rPr sz="1400" b="0" i="0">
                <a:solidFill>
                  <a:srgbClr val="40A3A3"/>
                </a:solidFill>
                <a:latin typeface="Calibri"/>
              </a:rPr>
              <a:t>4</a:t>
            </a:r>
          </a:p>
        </p:txBody>
      </p:sp>
      <p:sp>
        <p:nvSpPr>
          <p:cNvPr id="19" name="TextBox 18"/>
          <p:cNvSpPr txBox="1"/>
          <p:nvPr/>
        </p:nvSpPr>
        <p:spPr>
          <a:xfrm>
            <a:off x="411480" y="2157984"/>
            <a:ext cx="1005840" cy="384048"/>
          </a:xfrm>
          <a:prstGeom prst="rect">
            <a:avLst/>
          </a:prstGeom>
          <a:noFill/>
        </p:spPr>
        <p:txBody>
          <a:bodyPr wrap="square">
            <a:spAutoFit/>
          </a:bodyPr>
          <a:lstStyle/>
          <a:p>
            <a:pPr algn="l"/>
            <a:r>
              <a:rPr sz="1400" b="1" i="0">
                <a:solidFill>
                  <a:srgbClr val="111111"/>
                </a:solidFill>
                <a:latin typeface="Calibri"/>
              </a:rPr>
              <a:t>1:30</a:t>
            </a:r>
          </a:p>
        </p:txBody>
      </p:sp>
      <p:sp>
        <p:nvSpPr>
          <p:cNvPr id="20" name="TextBox 19"/>
          <p:cNvSpPr txBox="1"/>
          <p:nvPr/>
        </p:nvSpPr>
        <p:spPr>
          <a:xfrm>
            <a:off x="1417320" y="2157984"/>
            <a:ext cx="640080" cy="384048"/>
          </a:xfrm>
          <a:prstGeom prst="rect">
            <a:avLst/>
          </a:prstGeom>
          <a:noFill/>
        </p:spPr>
        <p:txBody>
          <a:bodyPr wrap="square">
            <a:spAutoFit/>
          </a:bodyPr>
          <a:lstStyle/>
          <a:p>
            <a:pPr algn="l"/>
            <a:r>
              <a:rPr sz="1400" b="0" i="0">
                <a:solidFill>
                  <a:srgbClr val="46484E"/>
                </a:solidFill>
                <a:latin typeface="Calibri"/>
              </a:rPr>
              <a:t>2:40</a:t>
            </a:r>
          </a:p>
        </p:txBody>
      </p:sp>
      <p:sp>
        <p:nvSpPr>
          <p:cNvPr id="21" name="TextBox 20"/>
          <p:cNvSpPr txBox="1"/>
          <p:nvPr/>
        </p:nvSpPr>
        <p:spPr>
          <a:xfrm>
            <a:off x="2103120" y="2157984"/>
            <a:ext cx="1645920" cy="384048"/>
          </a:xfrm>
          <a:prstGeom prst="rect">
            <a:avLst/>
          </a:prstGeom>
          <a:noFill/>
        </p:spPr>
        <p:txBody>
          <a:bodyPr wrap="square">
            <a:spAutoFit/>
          </a:bodyPr>
          <a:lstStyle/>
          <a:p>
            <a:pPr algn="l"/>
            <a:r>
              <a:rPr sz="1400" b="1" i="0">
                <a:solidFill>
                  <a:srgbClr val="111111"/>
                </a:solidFill>
                <a:latin typeface="Calibri"/>
              </a:rPr>
              <a:t>Problem</a:t>
            </a:r>
          </a:p>
        </p:txBody>
      </p:sp>
      <p:sp>
        <p:nvSpPr>
          <p:cNvPr id="22" name="TextBox 21"/>
          <p:cNvSpPr txBox="1"/>
          <p:nvPr/>
        </p:nvSpPr>
        <p:spPr>
          <a:xfrm>
            <a:off x="3840480" y="2157984"/>
            <a:ext cx="6035040" cy="384048"/>
          </a:xfrm>
          <a:prstGeom prst="rect">
            <a:avLst/>
          </a:prstGeom>
          <a:noFill/>
        </p:spPr>
        <p:txBody>
          <a:bodyPr wrap="square">
            <a:spAutoFit/>
          </a:bodyPr>
          <a:lstStyle/>
          <a:p>
            <a:pPr algn="l"/>
            <a:r>
              <a:rPr sz="1400" b="0" i="0">
                <a:solidFill>
                  <a:srgbClr val="111111"/>
                </a:solidFill>
                <a:latin typeface="Calibri"/>
              </a:rPr>
              <a:t>5%. Not one. 600k. Breakfast until 10.</a:t>
            </a:r>
          </a:p>
        </p:txBody>
      </p:sp>
      <p:sp>
        <p:nvSpPr>
          <p:cNvPr id="23" name="TextBox 22"/>
          <p:cNvSpPr txBox="1"/>
          <p:nvPr/>
        </p:nvSpPr>
        <p:spPr>
          <a:xfrm>
            <a:off x="10058400" y="2157984"/>
            <a:ext cx="1645920" cy="384048"/>
          </a:xfrm>
          <a:prstGeom prst="rect">
            <a:avLst/>
          </a:prstGeom>
          <a:noFill/>
        </p:spPr>
        <p:txBody>
          <a:bodyPr wrap="square">
            <a:spAutoFit/>
          </a:bodyPr>
          <a:lstStyle/>
          <a:p>
            <a:pPr algn="l"/>
            <a:r>
              <a:rPr sz="1400" b="0" i="0">
                <a:solidFill>
                  <a:srgbClr val="40A3A3"/>
                </a:solidFill>
                <a:latin typeface="Calibri"/>
              </a:rPr>
              <a:t>7</a:t>
            </a:r>
          </a:p>
        </p:txBody>
      </p:sp>
      <p:sp>
        <p:nvSpPr>
          <p:cNvPr id="24" name="TextBox 23"/>
          <p:cNvSpPr txBox="1"/>
          <p:nvPr/>
        </p:nvSpPr>
        <p:spPr>
          <a:xfrm>
            <a:off x="411480" y="2596896"/>
            <a:ext cx="1005840" cy="384048"/>
          </a:xfrm>
          <a:prstGeom prst="rect">
            <a:avLst/>
          </a:prstGeom>
          <a:noFill/>
        </p:spPr>
        <p:txBody>
          <a:bodyPr wrap="square">
            <a:spAutoFit/>
          </a:bodyPr>
          <a:lstStyle/>
          <a:p>
            <a:pPr algn="l"/>
            <a:r>
              <a:rPr sz="1400" b="1" i="0">
                <a:solidFill>
                  <a:srgbClr val="111111"/>
                </a:solidFill>
                <a:latin typeface="Calibri"/>
              </a:rPr>
              <a:t>2:40</a:t>
            </a:r>
          </a:p>
        </p:txBody>
      </p:sp>
      <p:sp>
        <p:nvSpPr>
          <p:cNvPr id="25" name="TextBox 24"/>
          <p:cNvSpPr txBox="1"/>
          <p:nvPr/>
        </p:nvSpPr>
        <p:spPr>
          <a:xfrm>
            <a:off x="1417320" y="2596896"/>
            <a:ext cx="640080" cy="384048"/>
          </a:xfrm>
          <a:prstGeom prst="rect">
            <a:avLst/>
          </a:prstGeom>
          <a:noFill/>
        </p:spPr>
        <p:txBody>
          <a:bodyPr wrap="square">
            <a:spAutoFit/>
          </a:bodyPr>
          <a:lstStyle/>
          <a:p>
            <a:pPr algn="l"/>
            <a:r>
              <a:rPr sz="1400" b="0" i="0">
                <a:solidFill>
                  <a:srgbClr val="46484E"/>
                </a:solidFill>
                <a:latin typeface="Calibri"/>
              </a:rPr>
              <a:t>3:40</a:t>
            </a:r>
          </a:p>
        </p:txBody>
      </p:sp>
      <p:sp>
        <p:nvSpPr>
          <p:cNvPr id="26" name="TextBox 25"/>
          <p:cNvSpPr txBox="1"/>
          <p:nvPr/>
        </p:nvSpPr>
        <p:spPr>
          <a:xfrm>
            <a:off x="2103120" y="2596896"/>
            <a:ext cx="1645920" cy="384048"/>
          </a:xfrm>
          <a:prstGeom prst="rect">
            <a:avLst/>
          </a:prstGeom>
          <a:noFill/>
        </p:spPr>
        <p:txBody>
          <a:bodyPr wrap="square">
            <a:spAutoFit/>
          </a:bodyPr>
          <a:lstStyle/>
          <a:p>
            <a:pPr algn="l"/>
            <a:r>
              <a:rPr sz="1400" b="1" i="0">
                <a:solidFill>
                  <a:srgbClr val="111111"/>
                </a:solidFill>
                <a:latin typeface="Calibri"/>
              </a:rPr>
              <a:t>Opportunity</a:t>
            </a:r>
          </a:p>
        </p:txBody>
      </p:sp>
      <p:sp>
        <p:nvSpPr>
          <p:cNvPr id="27" name="TextBox 26"/>
          <p:cNvSpPr txBox="1"/>
          <p:nvPr/>
        </p:nvSpPr>
        <p:spPr>
          <a:xfrm>
            <a:off x="3840480" y="2596896"/>
            <a:ext cx="6035040" cy="384048"/>
          </a:xfrm>
          <a:prstGeom prst="rect">
            <a:avLst/>
          </a:prstGeom>
          <a:noFill/>
        </p:spPr>
        <p:txBody>
          <a:bodyPr wrap="square">
            <a:spAutoFit/>
          </a:bodyPr>
          <a:lstStyle/>
          <a:p>
            <a:pPr algn="l"/>
            <a:r>
              <a:rPr sz="1400" b="0" i="0">
                <a:solidFill>
                  <a:srgbClr val="111111"/>
                </a:solidFill>
                <a:latin typeface="Calibri"/>
              </a:rPr>
              <a:t>Door. Hotels / youth / guests.</a:t>
            </a:r>
          </a:p>
        </p:txBody>
      </p:sp>
      <p:sp>
        <p:nvSpPr>
          <p:cNvPr id="28" name="TextBox 27"/>
          <p:cNvSpPr txBox="1"/>
          <p:nvPr/>
        </p:nvSpPr>
        <p:spPr>
          <a:xfrm>
            <a:off x="10058400" y="2596896"/>
            <a:ext cx="1645920" cy="384048"/>
          </a:xfrm>
          <a:prstGeom prst="rect">
            <a:avLst/>
          </a:prstGeom>
          <a:noFill/>
        </p:spPr>
        <p:txBody>
          <a:bodyPr wrap="square">
            <a:spAutoFit/>
          </a:bodyPr>
          <a:lstStyle/>
          <a:p>
            <a:pPr algn="l"/>
            <a:r>
              <a:rPr sz="1400" b="0" i="0">
                <a:solidFill>
                  <a:srgbClr val="40A3A3"/>
                </a:solidFill>
                <a:latin typeface="Calibri"/>
              </a:rPr>
              <a:t>8</a:t>
            </a:r>
          </a:p>
        </p:txBody>
      </p:sp>
      <p:sp>
        <p:nvSpPr>
          <p:cNvPr id="29" name="TextBox 28"/>
          <p:cNvSpPr txBox="1"/>
          <p:nvPr/>
        </p:nvSpPr>
        <p:spPr>
          <a:xfrm>
            <a:off x="411480" y="3035808"/>
            <a:ext cx="1005840" cy="384048"/>
          </a:xfrm>
          <a:prstGeom prst="rect">
            <a:avLst/>
          </a:prstGeom>
          <a:noFill/>
        </p:spPr>
        <p:txBody>
          <a:bodyPr wrap="square">
            <a:spAutoFit/>
          </a:bodyPr>
          <a:lstStyle/>
          <a:p>
            <a:pPr algn="l"/>
            <a:r>
              <a:rPr sz="1400" b="1" i="0">
                <a:solidFill>
                  <a:srgbClr val="111111"/>
                </a:solidFill>
                <a:latin typeface="Calibri"/>
              </a:rPr>
              <a:t>3:40</a:t>
            </a:r>
          </a:p>
        </p:txBody>
      </p:sp>
      <p:sp>
        <p:nvSpPr>
          <p:cNvPr id="30" name="TextBox 29"/>
          <p:cNvSpPr txBox="1"/>
          <p:nvPr/>
        </p:nvSpPr>
        <p:spPr>
          <a:xfrm>
            <a:off x="1417320" y="3035808"/>
            <a:ext cx="640080" cy="384048"/>
          </a:xfrm>
          <a:prstGeom prst="rect">
            <a:avLst/>
          </a:prstGeom>
          <a:noFill/>
        </p:spPr>
        <p:txBody>
          <a:bodyPr wrap="square">
            <a:spAutoFit/>
          </a:bodyPr>
          <a:lstStyle/>
          <a:p>
            <a:pPr algn="l"/>
            <a:r>
              <a:rPr sz="1400" b="0" i="0">
                <a:solidFill>
                  <a:srgbClr val="46484E"/>
                </a:solidFill>
                <a:latin typeface="Calibri"/>
              </a:rPr>
              <a:t>5:20</a:t>
            </a:r>
          </a:p>
        </p:txBody>
      </p:sp>
      <p:sp>
        <p:nvSpPr>
          <p:cNvPr id="31" name="TextBox 30"/>
          <p:cNvSpPr txBox="1"/>
          <p:nvPr/>
        </p:nvSpPr>
        <p:spPr>
          <a:xfrm>
            <a:off x="2103120" y="3035808"/>
            <a:ext cx="1645920" cy="384048"/>
          </a:xfrm>
          <a:prstGeom prst="rect">
            <a:avLst/>
          </a:prstGeom>
          <a:noFill/>
        </p:spPr>
        <p:txBody>
          <a:bodyPr wrap="square">
            <a:spAutoFit/>
          </a:bodyPr>
          <a:lstStyle/>
          <a:p>
            <a:pPr algn="l"/>
            <a:r>
              <a:rPr sz="1400" b="1" i="0">
                <a:solidFill>
                  <a:srgbClr val="111111"/>
                </a:solidFill>
                <a:latin typeface="Calibri"/>
              </a:rPr>
              <a:t>How it works</a:t>
            </a:r>
          </a:p>
        </p:txBody>
      </p:sp>
      <p:sp>
        <p:nvSpPr>
          <p:cNvPr id="32" name="TextBox 31"/>
          <p:cNvSpPr txBox="1"/>
          <p:nvPr/>
        </p:nvSpPr>
        <p:spPr>
          <a:xfrm>
            <a:off x="3840480" y="3035808"/>
            <a:ext cx="6035040" cy="384048"/>
          </a:xfrm>
          <a:prstGeom prst="rect">
            <a:avLst/>
          </a:prstGeom>
          <a:noFill/>
        </p:spPr>
        <p:txBody>
          <a:bodyPr wrap="square">
            <a:spAutoFit/>
          </a:bodyPr>
          <a:lstStyle/>
          <a:p>
            <a:pPr algn="l"/>
            <a:r>
              <a:rPr sz="1400" b="0" i="0">
                <a:solidFill>
                  <a:srgbClr val="111111"/>
                </a:solidFill>
                <a:latin typeface="Calibri"/>
              </a:rPr>
              <a:t>One, two, three. Demo. Do not narrate bugs.</a:t>
            </a:r>
          </a:p>
        </p:txBody>
      </p:sp>
      <p:sp>
        <p:nvSpPr>
          <p:cNvPr id="33" name="TextBox 32"/>
          <p:cNvSpPr txBox="1"/>
          <p:nvPr/>
        </p:nvSpPr>
        <p:spPr>
          <a:xfrm>
            <a:off x="10058400" y="3035808"/>
            <a:ext cx="1645920" cy="384048"/>
          </a:xfrm>
          <a:prstGeom prst="rect">
            <a:avLst/>
          </a:prstGeom>
          <a:noFill/>
        </p:spPr>
        <p:txBody>
          <a:bodyPr wrap="square">
            <a:spAutoFit/>
          </a:bodyPr>
          <a:lstStyle/>
          <a:p>
            <a:pPr algn="l"/>
            <a:r>
              <a:rPr sz="1400" b="0" i="0">
                <a:solidFill>
                  <a:srgbClr val="40A3A3"/>
                </a:solidFill>
                <a:latin typeface="Calibri"/>
              </a:rPr>
              <a:t>7</a:t>
            </a:r>
          </a:p>
        </p:txBody>
      </p:sp>
      <p:sp>
        <p:nvSpPr>
          <p:cNvPr id="34" name="TextBox 33"/>
          <p:cNvSpPr txBox="1"/>
          <p:nvPr/>
        </p:nvSpPr>
        <p:spPr>
          <a:xfrm>
            <a:off x="411480" y="3474720"/>
            <a:ext cx="1005840" cy="384048"/>
          </a:xfrm>
          <a:prstGeom prst="rect">
            <a:avLst/>
          </a:prstGeom>
          <a:noFill/>
        </p:spPr>
        <p:txBody>
          <a:bodyPr wrap="square">
            <a:spAutoFit/>
          </a:bodyPr>
          <a:lstStyle/>
          <a:p>
            <a:pPr algn="l"/>
            <a:r>
              <a:rPr sz="1400" b="1" i="0">
                <a:solidFill>
                  <a:srgbClr val="111111"/>
                </a:solidFill>
                <a:latin typeface="Calibri"/>
              </a:rPr>
              <a:t>5:20</a:t>
            </a:r>
          </a:p>
        </p:txBody>
      </p:sp>
      <p:sp>
        <p:nvSpPr>
          <p:cNvPr id="35" name="TextBox 34"/>
          <p:cNvSpPr txBox="1"/>
          <p:nvPr/>
        </p:nvSpPr>
        <p:spPr>
          <a:xfrm>
            <a:off x="1417320" y="3474720"/>
            <a:ext cx="640080" cy="384048"/>
          </a:xfrm>
          <a:prstGeom prst="rect">
            <a:avLst/>
          </a:prstGeom>
          <a:noFill/>
        </p:spPr>
        <p:txBody>
          <a:bodyPr wrap="square">
            <a:spAutoFit/>
          </a:bodyPr>
          <a:lstStyle/>
          <a:p>
            <a:pPr algn="l"/>
            <a:r>
              <a:rPr sz="1400" b="0" i="0">
                <a:solidFill>
                  <a:srgbClr val="46484E"/>
                </a:solidFill>
                <a:latin typeface="Calibri"/>
              </a:rPr>
              <a:t>6:20</a:t>
            </a:r>
          </a:p>
        </p:txBody>
      </p:sp>
      <p:sp>
        <p:nvSpPr>
          <p:cNvPr id="36" name="TextBox 35"/>
          <p:cNvSpPr txBox="1"/>
          <p:nvPr/>
        </p:nvSpPr>
        <p:spPr>
          <a:xfrm>
            <a:off x="2103120" y="3474720"/>
            <a:ext cx="1645920" cy="384048"/>
          </a:xfrm>
          <a:prstGeom prst="rect">
            <a:avLst/>
          </a:prstGeom>
          <a:noFill/>
        </p:spPr>
        <p:txBody>
          <a:bodyPr wrap="square">
            <a:spAutoFit/>
          </a:bodyPr>
          <a:lstStyle/>
          <a:p>
            <a:pPr algn="l"/>
            <a:r>
              <a:rPr sz="1400" b="1" i="0">
                <a:solidFill>
                  <a:srgbClr val="111111"/>
                </a:solidFill>
                <a:latin typeface="Calibri"/>
              </a:rPr>
              <a:t>Two screens</a:t>
            </a:r>
          </a:p>
        </p:txBody>
      </p:sp>
      <p:sp>
        <p:nvSpPr>
          <p:cNvPr id="37" name="TextBox 36"/>
          <p:cNvSpPr txBox="1"/>
          <p:nvPr/>
        </p:nvSpPr>
        <p:spPr>
          <a:xfrm>
            <a:off x="3840480" y="3474720"/>
            <a:ext cx="6035040" cy="384048"/>
          </a:xfrm>
          <a:prstGeom prst="rect">
            <a:avLst/>
          </a:prstGeom>
          <a:noFill/>
        </p:spPr>
        <p:txBody>
          <a:bodyPr wrap="square">
            <a:spAutoFit/>
          </a:bodyPr>
          <a:lstStyle/>
          <a:p>
            <a:pPr algn="l"/>
            <a:r>
              <a:rPr sz="1400" b="0" i="0">
                <a:solidFill>
                  <a:srgbClr val="111111"/>
                </a:solidFill>
                <a:latin typeface="Calibri"/>
              </a:rPr>
              <a:t>Guest, employee, hotel. No ask.</a:t>
            </a:r>
          </a:p>
        </p:txBody>
      </p:sp>
      <p:sp>
        <p:nvSpPr>
          <p:cNvPr id="38" name="TextBox 37"/>
          <p:cNvSpPr txBox="1"/>
          <p:nvPr/>
        </p:nvSpPr>
        <p:spPr>
          <a:xfrm>
            <a:off x="10058400" y="3474720"/>
            <a:ext cx="1645920" cy="384048"/>
          </a:xfrm>
          <a:prstGeom prst="rect">
            <a:avLst/>
          </a:prstGeom>
          <a:noFill/>
        </p:spPr>
        <p:txBody>
          <a:bodyPr wrap="square">
            <a:spAutoFit/>
          </a:bodyPr>
          <a:lstStyle/>
          <a:p>
            <a:pPr algn="l"/>
            <a:r>
              <a:rPr sz="1400" b="0" i="0">
                <a:solidFill>
                  <a:srgbClr val="40A3A3"/>
                </a:solidFill>
                <a:latin typeface="Calibri"/>
              </a:rPr>
              <a:t>6</a:t>
            </a:r>
          </a:p>
        </p:txBody>
      </p:sp>
      <p:sp>
        <p:nvSpPr>
          <p:cNvPr id="39" name="TextBox 38"/>
          <p:cNvSpPr txBox="1"/>
          <p:nvPr/>
        </p:nvSpPr>
        <p:spPr>
          <a:xfrm>
            <a:off x="411480" y="3913632"/>
            <a:ext cx="1005840" cy="384048"/>
          </a:xfrm>
          <a:prstGeom prst="rect">
            <a:avLst/>
          </a:prstGeom>
          <a:noFill/>
        </p:spPr>
        <p:txBody>
          <a:bodyPr wrap="square">
            <a:spAutoFit/>
          </a:bodyPr>
          <a:lstStyle/>
          <a:p>
            <a:pPr algn="l"/>
            <a:r>
              <a:rPr sz="1400" b="1" i="0">
                <a:solidFill>
                  <a:srgbClr val="111111"/>
                </a:solidFill>
                <a:latin typeface="Calibri"/>
              </a:rPr>
              <a:t>6:20</a:t>
            </a:r>
          </a:p>
        </p:txBody>
      </p:sp>
      <p:sp>
        <p:nvSpPr>
          <p:cNvPr id="40" name="TextBox 39"/>
          <p:cNvSpPr txBox="1"/>
          <p:nvPr/>
        </p:nvSpPr>
        <p:spPr>
          <a:xfrm>
            <a:off x="1417320" y="3913632"/>
            <a:ext cx="640080" cy="384048"/>
          </a:xfrm>
          <a:prstGeom prst="rect">
            <a:avLst/>
          </a:prstGeom>
          <a:noFill/>
        </p:spPr>
        <p:txBody>
          <a:bodyPr wrap="square">
            <a:spAutoFit/>
          </a:bodyPr>
          <a:lstStyle/>
          <a:p>
            <a:pPr algn="l"/>
            <a:r>
              <a:rPr sz="1400" b="0" i="0">
                <a:solidFill>
                  <a:srgbClr val="46484E"/>
                </a:solidFill>
                <a:latin typeface="Calibri"/>
              </a:rPr>
              <a:t>7:00</a:t>
            </a:r>
          </a:p>
        </p:txBody>
      </p:sp>
      <p:sp>
        <p:nvSpPr>
          <p:cNvPr id="41" name="TextBox 40"/>
          <p:cNvSpPr txBox="1"/>
          <p:nvPr/>
        </p:nvSpPr>
        <p:spPr>
          <a:xfrm>
            <a:off x="2103120" y="3913632"/>
            <a:ext cx="1645920" cy="384048"/>
          </a:xfrm>
          <a:prstGeom prst="rect">
            <a:avLst/>
          </a:prstGeom>
          <a:noFill/>
        </p:spPr>
        <p:txBody>
          <a:bodyPr wrap="square">
            <a:spAutoFit/>
          </a:bodyPr>
          <a:lstStyle/>
          <a:p>
            <a:pPr algn="l"/>
            <a:r>
              <a:rPr sz="1400" b="1" i="0">
                <a:solidFill>
                  <a:srgbClr val="111111"/>
                </a:solidFill>
                <a:latin typeface="Calibri"/>
              </a:rPr>
              <a:t>Close</a:t>
            </a:r>
          </a:p>
        </p:txBody>
      </p:sp>
      <p:sp>
        <p:nvSpPr>
          <p:cNvPr id="42" name="TextBox 41"/>
          <p:cNvSpPr txBox="1"/>
          <p:nvPr/>
        </p:nvSpPr>
        <p:spPr>
          <a:xfrm>
            <a:off x="3840480" y="3913632"/>
            <a:ext cx="6035040" cy="384048"/>
          </a:xfrm>
          <a:prstGeom prst="rect">
            <a:avLst/>
          </a:prstGeom>
          <a:noFill/>
        </p:spPr>
        <p:txBody>
          <a:bodyPr wrap="square">
            <a:spAutoFit/>
          </a:bodyPr>
          <a:lstStyle/>
          <a:p>
            <a:pPr algn="l"/>
            <a:r>
              <a:rPr sz="1400" b="0" i="0">
                <a:solidFill>
                  <a:srgbClr val="111111"/>
                </a:solidFill>
                <a:latin typeface="Calibri"/>
              </a:rPr>
              <a:t>Three bells. Thank you. Freeze.</a:t>
            </a:r>
          </a:p>
        </p:txBody>
      </p:sp>
      <p:sp>
        <p:nvSpPr>
          <p:cNvPr id="43" name="TextBox 42"/>
          <p:cNvSpPr txBox="1"/>
          <p:nvPr/>
        </p:nvSpPr>
        <p:spPr>
          <a:xfrm>
            <a:off x="10058400" y="3913632"/>
            <a:ext cx="1645920" cy="384048"/>
          </a:xfrm>
          <a:prstGeom prst="rect">
            <a:avLst/>
          </a:prstGeom>
          <a:noFill/>
        </p:spPr>
        <p:txBody>
          <a:bodyPr wrap="square">
            <a:spAutoFit/>
          </a:bodyPr>
          <a:lstStyle/>
          <a:p>
            <a:pPr algn="l"/>
            <a:r>
              <a:rPr sz="1400" b="0" i="0">
                <a:solidFill>
                  <a:srgbClr val="40A3A3"/>
                </a:solidFill>
                <a:latin typeface="Calibri"/>
              </a:rPr>
              <a:t>5→9</a:t>
            </a:r>
          </a:p>
        </p:txBody>
      </p:sp>
      <p:sp>
        <p:nvSpPr>
          <p:cNvPr id="44" name="Rounded Rectangle 43"/>
          <p:cNvSpPr/>
          <p:nvPr/>
        </p:nvSpPr>
        <p:spPr>
          <a:xfrm>
            <a:off x="411480" y="5074920"/>
            <a:ext cx="11338560" cy="1371600"/>
          </a:xfrm>
          <a:prstGeom prst="roundRect">
            <a:avLst>
              <a:gd name="adj" fmla="val 6000"/>
            </a:avLst>
          </a:prstGeom>
          <a:solidFill>
            <a:srgbClr val="FFF8E6"/>
          </a:solidFill>
          <a:ln>
            <a:solidFill>
              <a:srgbClr val="E8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 y="5166360"/>
            <a:ext cx="11064240" cy="292608"/>
          </a:xfrm>
          <a:prstGeom prst="rect">
            <a:avLst/>
          </a:prstGeom>
          <a:noFill/>
        </p:spPr>
        <p:txBody>
          <a:bodyPr wrap="square">
            <a:spAutoFit/>
          </a:bodyPr>
          <a:lstStyle/>
          <a:p>
            <a:pPr algn="l"/>
            <a:r>
              <a:rPr sz="1200" b="1" i="0">
                <a:solidFill>
                  <a:srgbClr val="6B4706"/>
                </a:solidFill>
                <a:latin typeface="Calibri"/>
              </a:rPr>
              <a:t>ROGER LOVE — voice notes</a:t>
            </a:r>
          </a:p>
        </p:txBody>
      </p:sp>
      <p:sp>
        <p:nvSpPr>
          <p:cNvPr id="46" name="TextBox 45"/>
          <p:cNvSpPr txBox="1"/>
          <p:nvPr/>
        </p:nvSpPr>
        <p:spPr>
          <a:xfrm>
            <a:off x="576072" y="5458968"/>
            <a:ext cx="11009376" cy="868680"/>
          </a:xfrm>
          <a:prstGeom prst="rect">
            <a:avLst/>
          </a:prstGeom>
          <a:noFill/>
        </p:spPr>
        <p:txBody>
          <a:bodyPr wrap="square">
            <a:spAutoFit/>
          </a:bodyPr>
          <a:lstStyle/>
          <a:p>
            <a:pPr>
              <a:spcAft>
                <a:spcPts val="600"/>
              </a:spcAft>
            </a:pPr>
            <a:r>
              <a:rPr sz="1200">
                <a:solidFill>
                  <a:srgbClr val="463214"/>
                </a:solidFill>
                <a:latin typeface="Calibri"/>
              </a:rPr>
              <a:t>If you are at 5:00 and still on questions, skip the optional sentence later and shorten opportunity to the “missing piece” line only.</a:t>
            </a:r>
          </a:p>
          <a:p>
            <a:pPr>
              <a:spcAft>
                <a:spcPts val="600"/>
              </a:spcAft>
            </a:pPr>
            <a:r>
              <a:rPr sz="1200">
                <a:solidFill>
                  <a:srgbClr val="463214"/>
                </a:solidFill>
                <a:latin typeface="Calibri"/>
              </a:rPr>
              <a:t>If you are at 6:00 and still on how-it-works, skip the demo narration — one phrase tap — go to close. The close is not optional.</a:t>
            </a:r>
          </a:p>
          <a:p>
            <a:pPr>
              <a:spcAft>
                <a:spcPts val="600"/>
              </a:spcAft>
            </a:pPr>
            <a:r>
              <a:rPr sz="1200">
                <a:solidFill>
                  <a:srgbClr val="463214"/>
                </a:solidFill>
                <a:latin typeface="Calibri"/>
              </a:rPr>
              <a:t>Rehearse out loud 5 times. Record once. Listen only for: rushed numbers, skipped pauses, fade on “thank you”.</a:t>
            </a:r>
          </a:p>
        </p:txBody>
      </p:sp>
      <p:sp>
        <p:nvSpPr>
          <p:cNvPr id="47" name="TextBox 46"/>
          <p:cNvSpPr txBox="1"/>
          <p:nvPr/>
        </p:nvSpPr>
        <p:spPr>
          <a:xfrm>
            <a:off x="411480" y="6565392"/>
            <a:ext cx="7772400" cy="219456"/>
          </a:xfrm>
          <a:prstGeom prst="rect">
            <a:avLst/>
          </a:prstGeom>
          <a:noFill/>
        </p:spPr>
        <p:txBody>
          <a:bodyPr wrap="square">
            <a:spAutoFit/>
          </a:bodyPr>
          <a:lstStyle/>
          <a:p>
            <a:pPr algn="l"/>
            <a:r>
              <a:rPr sz="1100" b="0" i="0">
                <a:solidFill>
                  <a:srgbClr val="46484E"/>
                </a:solidFill>
                <a:latin typeface="Calibri"/>
              </a:rPr>
              <a:t>SPEAKER SCRIPT  ·  not for judges  ·  full 7:00</a:t>
            </a:r>
          </a:p>
        </p:txBody>
      </p:sp>
      <p:sp>
        <p:nvSpPr>
          <p:cNvPr id="48" name="TextBox 47"/>
          <p:cNvSpPr txBox="1"/>
          <p:nvPr/>
        </p:nvSpPr>
        <p:spPr>
          <a:xfrm>
            <a:off x="10607040" y="6565392"/>
            <a:ext cx="1188720" cy="219456"/>
          </a:xfrm>
          <a:prstGeom prst="rect">
            <a:avLst/>
          </a:prstGeom>
          <a:noFill/>
        </p:spPr>
        <p:txBody>
          <a:bodyPr wrap="square">
            <a:spAutoFit/>
          </a:bodyPr>
          <a:lstStyle/>
          <a:p>
            <a:pPr algn="r"/>
            <a:r>
              <a:rPr sz="1100" b="0" i="0">
                <a:solidFill>
                  <a:srgbClr val="46484E"/>
                </a:solidFill>
                <a:latin typeface="Calibri"/>
              </a:rPr>
              <a:t>run sheet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3F6"/>
        </a:solidFill>
        <a:effectLst/>
      </p:bgPr>
    </p:bg>
    <p:spTree>
      <p:nvGrpSpPr>
        <p:cNvPr id="1" name=""/>
        <p:cNvGrpSpPr/>
        <p:nvPr/>
      </p:nvGrpSpPr>
      <p:grpSpPr/>
      <p:pic>
        <p:nvPicPr>
          <p:cNvPr id="2" name="Picture 1" descr="s2_4.png"/>
          <p:cNvPicPr>
            <a:picLocks noChangeAspect="1"/>
          </p:cNvPicPr>
          <p:nvPr/>
        </p:nvPicPr>
        <p:blipFill>
          <a:blip r:embed="rId2"/>
          <a:stretch>
            <a:fillRect/>
          </a:stretch>
        </p:blipFill>
        <p:spPr>
          <a:xfrm>
            <a:off x="411480" y="256032"/>
            <a:ext cx="1005840" cy="82296"/>
          </a:xfrm>
          <a:prstGeom prst="rect">
            <a:avLst/>
          </a:prstGeom>
        </p:spPr>
      </p:pic>
      <p:sp>
        <p:nvSpPr>
          <p:cNvPr id="3" name="TextBox 2"/>
          <p:cNvSpPr txBox="1"/>
          <p:nvPr/>
        </p:nvSpPr>
        <p:spPr>
          <a:xfrm>
            <a:off x="411480" y="384048"/>
            <a:ext cx="11155680" cy="411480"/>
          </a:xfrm>
          <a:prstGeom prst="rect">
            <a:avLst/>
          </a:prstGeom>
          <a:noFill/>
        </p:spPr>
        <p:txBody>
          <a:bodyPr wrap="square">
            <a:spAutoFit/>
          </a:bodyPr>
          <a:lstStyle/>
          <a:p>
            <a:pPr algn="l"/>
            <a:r>
              <a:rPr sz="2600" b="1" i="0">
                <a:solidFill>
                  <a:srgbClr val="111111"/>
                </a:solidFill>
                <a:latin typeface="Calibri"/>
              </a:rPr>
              <a:t>The 3 minutes after — still a performance</a:t>
            </a:r>
          </a:p>
        </p:txBody>
      </p:sp>
      <p:sp>
        <p:nvSpPr>
          <p:cNvPr id="4" name="TextBox 3"/>
          <p:cNvSpPr txBox="1"/>
          <p:nvPr/>
        </p:nvSpPr>
        <p:spPr>
          <a:xfrm>
            <a:off x="411480" y="868680"/>
            <a:ext cx="11155680" cy="365760"/>
          </a:xfrm>
          <a:prstGeom prst="rect">
            <a:avLst/>
          </a:prstGeom>
          <a:noFill/>
        </p:spPr>
        <p:txBody>
          <a:bodyPr wrap="square">
            <a:spAutoFit/>
          </a:bodyPr>
          <a:lstStyle/>
          <a:p>
            <a:pPr algn="l"/>
            <a:r>
              <a:rPr sz="1600" b="0" i="0">
                <a:solidFill>
                  <a:srgbClr val="46484E"/>
                </a:solidFill>
                <a:latin typeface="Calibri"/>
              </a:rPr>
              <a:t>Questions are not an afterthought. 30-second answers. Then bridge back.</a:t>
            </a:r>
          </a:p>
        </p:txBody>
      </p:sp>
      <p:sp>
        <p:nvSpPr>
          <p:cNvPr id="5" name="TextBox 4"/>
          <p:cNvSpPr txBox="1"/>
          <p:nvPr/>
        </p:nvSpPr>
        <p:spPr>
          <a:xfrm>
            <a:off x="457200" y="1280160"/>
            <a:ext cx="11155680" cy="256032"/>
          </a:xfrm>
          <a:prstGeom prst="rect">
            <a:avLst/>
          </a:prstGeom>
          <a:noFill/>
        </p:spPr>
        <p:txBody>
          <a:bodyPr wrap="square">
            <a:spAutoFit/>
          </a:bodyPr>
          <a:lstStyle/>
          <a:p>
            <a:pPr algn="l"/>
            <a:r>
              <a:rPr sz="1400" b="1" i="0">
                <a:solidFill>
                  <a:srgbClr val="202349"/>
                </a:solidFill>
                <a:latin typeface="Calibri"/>
              </a:rPr>
              <a:t>“Does it work in Kenyan Sign Language?”</a:t>
            </a:r>
          </a:p>
        </p:txBody>
      </p:sp>
      <p:sp>
        <p:nvSpPr>
          <p:cNvPr id="6" name="TextBox 5"/>
          <p:cNvSpPr txBox="1"/>
          <p:nvPr/>
        </p:nvSpPr>
        <p:spPr>
          <a:xfrm>
            <a:off x="457200" y="1536192"/>
            <a:ext cx="11155680" cy="457200"/>
          </a:xfrm>
          <a:prstGeom prst="rect">
            <a:avLst/>
          </a:prstGeom>
          <a:noFill/>
        </p:spPr>
        <p:txBody>
          <a:bodyPr wrap="square">
            <a:spAutoFit/>
          </a:bodyPr>
          <a:lstStyle/>
          <a:p>
            <a:pPr algn="l"/>
            <a:r>
              <a:rPr sz="1400" b="0" i="0">
                <a:solidFill>
                  <a:srgbClr val="111111"/>
                </a:solidFill>
                <a:latin typeface="Calibri"/>
              </a:rPr>
              <a:t>The receptionist uses the signs they already use. They can also type or tap a phrase. The guest never has to learn a sign. The point is the desk works for both.</a:t>
            </a:r>
          </a:p>
        </p:txBody>
      </p:sp>
      <p:sp>
        <p:nvSpPr>
          <p:cNvPr id="7" name="TextBox 6"/>
          <p:cNvSpPr txBox="1"/>
          <p:nvPr/>
        </p:nvSpPr>
        <p:spPr>
          <a:xfrm>
            <a:off x="457200" y="2029968"/>
            <a:ext cx="11155680" cy="256032"/>
          </a:xfrm>
          <a:prstGeom prst="rect">
            <a:avLst/>
          </a:prstGeom>
          <a:noFill/>
        </p:spPr>
        <p:txBody>
          <a:bodyPr wrap="square">
            <a:spAutoFit/>
          </a:bodyPr>
          <a:lstStyle/>
          <a:p>
            <a:pPr algn="l"/>
            <a:r>
              <a:rPr sz="1400" b="1" i="0">
                <a:solidFill>
                  <a:srgbClr val="202349"/>
                </a:solidFill>
                <a:latin typeface="Calibri"/>
              </a:rPr>
              <a:t>“What if the guest has an accent / a Kenyan name?”</a:t>
            </a:r>
          </a:p>
        </p:txBody>
      </p:sp>
      <p:sp>
        <p:nvSpPr>
          <p:cNvPr id="8" name="TextBox 7"/>
          <p:cNvSpPr txBox="1"/>
          <p:nvPr/>
        </p:nvSpPr>
        <p:spPr>
          <a:xfrm>
            <a:off x="457200" y="2286000"/>
            <a:ext cx="11155680" cy="457200"/>
          </a:xfrm>
          <a:prstGeom prst="rect">
            <a:avLst/>
          </a:prstGeom>
          <a:noFill/>
        </p:spPr>
        <p:txBody>
          <a:bodyPr wrap="square">
            <a:spAutoFit/>
          </a:bodyPr>
          <a:lstStyle/>
          <a:p>
            <a:pPr algn="l"/>
            <a:r>
              <a:rPr sz="1400" b="0" i="0">
                <a:solidFill>
                  <a:srgbClr val="111111"/>
                </a:solidFill>
                <a:latin typeface="Calibri"/>
              </a:rPr>
              <a:t>They can also type. And the receptionist can always confirm on screen. We would rather a correct sentence than a fast wrong one.</a:t>
            </a:r>
          </a:p>
        </p:txBody>
      </p:sp>
      <p:sp>
        <p:nvSpPr>
          <p:cNvPr id="9" name="TextBox 8"/>
          <p:cNvSpPr txBox="1"/>
          <p:nvPr/>
        </p:nvSpPr>
        <p:spPr>
          <a:xfrm>
            <a:off x="457200" y="2779776"/>
            <a:ext cx="11155680" cy="256032"/>
          </a:xfrm>
          <a:prstGeom prst="rect">
            <a:avLst/>
          </a:prstGeom>
          <a:noFill/>
        </p:spPr>
        <p:txBody>
          <a:bodyPr wrap="square">
            <a:spAutoFit/>
          </a:bodyPr>
          <a:lstStyle/>
          <a:p>
            <a:pPr algn="l"/>
            <a:r>
              <a:rPr sz="1400" b="1" i="0">
                <a:solidFill>
                  <a:srgbClr val="202349"/>
                </a:solidFill>
                <a:latin typeface="Calibri"/>
              </a:rPr>
              <a:t>“Is this replacing interpreters?”</a:t>
            </a:r>
          </a:p>
        </p:txBody>
      </p:sp>
      <p:sp>
        <p:nvSpPr>
          <p:cNvPr id="10" name="TextBox 9"/>
          <p:cNvSpPr txBox="1"/>
          <p:nvPr/>
        </p:nvSpPr>
        <p:spPr>
          <a:xfrm>
            <a:off x="457200" y="3035808"/>
            <a:ext cx="11155680" cy="457200"/>
          </a:xfrm>
          <a:prstGeom prst="rect">
            <a:avLst/>
          </a:prstGeom>
          <a:noFill/>
        </p:spPr>
        <p:txBody>
          <a:bodyPr wrap="square">
            <a:spAutoFit/>
          </a:bodyPr>
          <a:lstStyle/>
          <a:p>
            <a:pPr algn="l"/>
            <a:r>
              <a:rPr sz="1400" b="0" i="0">
                <a:solidFill>
                  <a:srgbClr val="111111"/>
                </a:solidFill>
                <a:latin typeface="Calibri"/>
              </a:rPr>
              <a:t>No. It is covering the ten-second jobs at a desk so a Deaf person can be employed without a third adult glued to them.</a:t>
            </a:r>
          </a:p>
        </p:txBody>
      </p:sp>
      <p:sp>
        <p:nvSpPr>
          <p:cNvPr id="11" name="TextBox 10"/>
          <p:cNvSpPr txBox="1"/>
          <p:nvPr/>
        </p:nvSpPr>
        <p:spPr>
          <a:xfrm>
            <a:off x="457200" y="3529584"/>
            <a:ext cx="11155680" cy="256032"/>
          </a:xfrm>
          <a:prstGeom prst="rect">
            <a:avLst/>
          </a:prstGeom>
          <a:noFill/>
        </p:spPr>
        <p:txBody>
          <a:bodyPr wrap="square">
            <a:spAutoFit/>
          </a:bodyPr>
          <a:lstStyle/>
          <a:p>
            <a:pPr algn="l"/>
            <a:r>
              <a:rPr sz="1400" b="1" i="0">
                <a:solidFill>
                  <a:srgbClr val="202349"/>
                </a:solidFill>
                <a:latin typeface="Calibri"/>
              </a:rPr>
              <a:t>“How do you make money / what do you need?”</a:t>
            </a:r>
          </a:p>
        </p:txBody>
      </p:sp>
      <p:sp>
        <p:nvSpPr>
          <p:cNvPr id="12" name="TextBox 11"/>
          <p:cNvSpPr txBox="1"/>
          <p:nvPr/>
        </p:nvSpPr>
        <p:spPr>
          <a:xfrm>
            <a:off x="457200" y="3785616"/>
            <a:ext cx="11155680" cy="457200"/>
          </a:xfrm>
          <a:prstGeom prst="rect">
            <a:avLst/>
          </a:prstGeom>
          <a:noFill/>
        </p:spPr>
        <p:txBody>
          <a:bodyPr wrap="square">
            <a:spAutoFit/>
          </a:bodyPr>
          <a:lstStyle/>
          <a:p>
            <a:pPr algn="l"/>
            <a:r>
              <a:rPr sz="1400" b="0" i="0">
                <a:solidFill>
                  <a:srgbClr val="111111"/>
                </a:solidFill>
                <a:latin typeface="Calibri"/>
              </a:rPr>
              <a:t>If they ask, then and only then: Hotels pay for a desk that lets them hire. We are not asking from this slide. We showed the job.</a:t>
            </a:r>
          </a:p>
        </p:txBody>
      </p:sp>
      <p:sp>
        <p:nvSpPr>
          <p:cNvPr id="13" name="TextBox 12"/>
          <p:cNvSpPr txBox="1"/>
          <p:nvPr/>
        </p:nvSpPr>
        <p:spPr>
          <a:xfrm>
            <a:off x="457200" y="4279392"/>
            <a:ext cx="11155680" cy="256032"/>
          </a:xfrm>
          <a:prstGeom prst="rect">
            <a:avLst/>
          </a:prstGeom>
          <a:noFill/>
        </p:spPr>
        <p:txBody>
          <a:bodyPr wrap="square">
            <a:spAutoFit/>
          </a:bodyPr>
          <a:lstStyle/>
          <a:p>
            <a:pPr algn="l"/>
            <a:r>
              <a:rPr sz="1400" b="1" i="0">
                <a:solidFill>
                  <a:srgbClr val="202349"/>
                </a:solidFill>
                <a:latin typeface="Calibri"/>
              </a:rPr>
              <a:t>“Can I see the camera / the mic?”</a:t>
            </a:r>
          </a:p>
        </p:txBody>
      </p:sp>
      <p:sp>
        <p:nvSpPr>
          <p:cNvPr id="14" name="TextBox 13"/>
          <p:cNvSpPr txBox="1"/>
          <p:nvPr/>
        </p:nvSpPr>
        <p:spPr>
          <a:xfrm>
            <a:off x="457200" y="4535424"/>
            <a:ext cx="11155680" cy="457200"/>
          </a:xfrm>
          <a:prstGeom prst="rect">
            <a:avLst/>
          </a:prstGeom>
          <a:noFill/>
        </p:spPr>
        <p:txBody>
          <a:bodyPr wrap="square">
            <a:spAutoFit/>
          </a:bodyPr>
          <a:lstStyle/>
          <a:p>
            <a:pPr algn="l"/>
            <a:r>
              <a:rPr sz="1400" b="0" i="0">
                <a:solidFill>
                  <a:srgbClr val="111111"/>
                </a:solidFill>
                <a:latin typeface="Calibri"/>
              </a:rPr>
              <a:t>Show. One sentence. Guest speaks here. Employee signs here. Stop.</a:t>
            </a:r>
          </a:p>
        </p:txBody>
      </p:sp>
      <p:sp>
        <p:nvSpPr>
          <p:cNvPr id="15" name="TextBox 14"/>
          <p:cNvSpPr txBox="1"/>
          <p:nvPr/>
        </p:nvSpPr>
        <p:spPr>
          <a:xfrm>
            <a:off x="411480" y="6565392"/>
            <a:ext cx="7772400" cy="219456"/>
          </a:xfrm>
          <a:prstGeom prst="rect">
            <a:avLst/>
          </a:prstGeom>
          <a:noFill/>
        </p:spPr>
        <p:txBody>
          <a:bodyPr wrap="square">
            <a:spAutoFit/>
          </a:bodyPr>
          <a:lstStyle/>
          <a:p>
            <a:pPr algn="l"/>
            <a:r>
              <a:rPr sz="1100" b="0" i="0">
                <a:solidFill>
                  <a:srgbClr val="46484E"/>
                </a:solidFill>
                <a:latin typeface="Calibri"/>
              </a:rPr>
              <a:t>SPEAKER SCRIPT  ·  not for judges  ·  after 7:00</a:t>
            </a:r>
          </a:p>
        </p:txBody>
      </p:sp>
      <p:sp>
        <p:nvSpPr>
          <p:cNvPr id="16" name="TextBox 15"/>
          <p:cNvSpPr txBox="1"/>
          <p:nvPr/>
        </p:nvSpPr>
        <p:spPr>
          <a:xfrm>
            <a:off x="10607040" y="6565392"/>
            <a:ext cx="1188720" cy="219456"/>
          </a:xfrm>
          <a:prstGeom prst="rect">
            <a:avLst/>
          </a:prstGeom>
          <a:noFill/>
        </p:spPr>
        <p:txBody>
          <a:bodyPr wrap="square">
            <a:spAutoFit/>
          </a:bodyPr>
          <a:lstStyle/>
          <a:p>
            <a:pPr algn="r"/>
            <a:r>
              <a:rPr sz="1100" b="0" i="0">
                <a:solidFill>
                  <a:srgbClr val="46484E"/>
                </a:solidFill>
                <a:latin typeface="Calibri"/>
              </a:rPr>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